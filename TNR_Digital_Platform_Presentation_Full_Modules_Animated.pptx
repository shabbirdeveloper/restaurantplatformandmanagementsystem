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9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8264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framing the platform as community infrastructure, not simply a website.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Hero artwork: user-provided hero.jpg, also used by the live TNR election portal.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139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member dashboard to show how identity, services, records and communication meet in one interface.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Member portal dashboard: user-provided tnr portal dashbaoard.png.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0922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674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TNR Digital Platform now includes twenty-four implemented modules across access, member services, trust, governance and reporting.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Module status and wording: user-provided TNR Digital Platform Modules list, 2026-08-05.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8986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6488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member dashboard to show how identity, services, records and communication meet in one interface.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Member portal dashboard: user-provided tnr portal dashbaoard.png.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9934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card front, QR-enabled back and certificate as one trust system rather than three separate documents.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Membership card: user-provided TNR Card.pdf, rendered from the original PDF.</a:t>
            </a:r>
          </a:p>
          <a:p>
            <a:r>
              <a:t>- Membership certificate: user-provided tnr certificate.pdf, rendered from the original PDF.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0171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real AI Assistant screenshot to demonstrate that member guidance is already available within the platform.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AI Assistant screenshot: user-provided platform capture, ai-assistant-real.png.</a:t>
            </a:r>
          </a:p>
          <a:p>
            <a:r>
              <a:t>- No real CV Builder screenshot was provided; the CV frame remains clearly labeled as a screenshot placeholder.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7200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live election portal verifies a registered email with a six-digit OTP, confirms member identity, supports a reviewed ballot, issues a unique receipt code, and publishes results views.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TNR Election Portal and process details: https://www.evotegb.com/election-portal, accessed 2026-08-04.</a:t>
            </a:r>
          </a:p>
          <a:p>
            <a:r>
              <a:t>- Election results screenshot: user-provided platform capture, election-results-real.png.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5091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7272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these thirty modules as the planned expansion roadmap for the TNR Digital Platform.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- Planned module status and wording: user-provided TNR Digital Platform Modules list, 2026-08-05.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6818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the audience, invite questions and close on the community purpose: technology is the enabler, not the destination.</a:t>
            </a:r>
          </a:p>
          <a:p>
            <a:r>
              <a:t>[Sources]</a:t>
            </a:r>
          </a:p>
          <a:p>
            <a:r>
              <a:t>- Platform content and presenter details: user-provided TNR Digital Platform brief, 2026-08-04.</a:t>
            </a:r>
          </a:p>
          <a:p>
            <a:r>
              <a:t>- Official TNR logo: user-provided transparent PNG, tnr-logo-transparent.png.</a:t>
            </a:r>
          </a:p>
          <a:p>
            <a:r>
              <a:t>- Icons: Lucide v1.8.0, ISC License, bundled runtime — https://lucide.dev/.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2551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09efa221fa1f48b3" Type="http://schemas.openxmlformats.org/officeDocument/2006/relationships/image" Target="../media/image.svg"/><Relationship Id="R012af79ab20346ee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dd05cd40159d47ba" Type="http://schemas.openxmlformats.org/officeDocument/2006/relationships/image" Target="../media/image2.svg"/><Relationship Id="Rc7bb7febf20247c8" Type="http://schemas.openxmlformats.org/officeDocument/2006/relationships/image" Target="../media/image5.svg"/><Relationship Id="Radf1d5657c3f4e25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fd073cfe4d4843b4" Type="http://schemas.openxmlformats.org/officeDocument/2006/relationships/image" Target="../media/image9.svg"/><Relationship Id="R2f910b93b06c487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50c0853cf8c2453c" Type="http://schemas.openxmlformats.org/officeDocument/2006/relationships/image" Target="../media/image10.svg"/><Relationship Id="rId1" Type="http://schemas.openxmlformats.org/officeDocument/2006/relationships/slideLayout" Target="../slideLayouts/slideLayout1.xml"/><Relationship Id="R6e1cca7520f0420a" Type="http://schemas.openxmlformats.org/officeDocument/2006/relationships/image" Target="../media/image8.svg"/><Relationship Id="R488888c38faf4a71" Type="http://schemas.openxmlformats.org/officeDocument/2006/relationships/image" Target="../media/image7.svg"/><Relationship Id="Reb29d1841eb64e77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b1ab499cada9497c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9fc4dc7aba6f4cb3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81e02be35fd546ce" Type="http://schemas.openxmlformats.org/officeDocument/2006/relationships/image" Target="../media/image12.svg"/><Relationship Id="Rf41621339fff4fa9" Type="http://schemas.openxmlformats.org/officeDocument/2006/relationships/image" Target="../media/image13.svg"/><Relationship Id="Ree0efbaf85ae40ff" Type="http://schemas.openxmlformats.org/officeDocument/2006/relationships/image" Target="../media/image18.svg"/><Relationship Id="R4ed887fd09d94cae" Type="http://schemas.openxmlformats.org/officeDocument/2006/relationships/image" Target="../media/image14.sv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7cf7a38895c3477a" Type="http://schemas.openxmlformats.org/officeDocument/2006/relationships/image" Target="../media/image19.svg"/><Relationship Id="R5d21be7ad4564fe8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679bf839925a4ee7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af51153e2aa141e8" Type="http://schemas.openxmlformats.org/officeDocument/2006/relationships/image" Target="../media/image21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43590df06e874821" Type="http://schemas.openxmlformats.org/officeDocument/2006/relationships/image" Target="../media/image23.svg"/><Relationship Id="Rf202d239f95e4c97" Type="http://schemas.openxmlformats.org/officeDocument/2006/relationships/image" Target="../media/image26.svg"/><Relationship Id="rId3" Type="http://schemas.openxmlformats.org/officeDocument/2006/relationships/image" Target="../media/image4.png"/><Relationship Id="R102b4636418e4b05" Type="http://schemas.openxmlformats.org/officeDocument/2006/relationships/image" Target="../media/image24.svg"/><Relationship Id="R059c3f7b9ba242b9" Type="http://schemas.openxmlformats.org/officeDocument/2006/relationships/image" Target="../media/image25.svg"/><Relationship Id="Rd9c3264eeab54fbf" Type="http://schemas.openxmlformats.org/officeDocument/2006/relationships/image" Target="../media/image27.svg"/><Relationship Id="R70f955d929d046c6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3ecc633f67174f69" Type="http://schemas.openxmlformats.org/officeDocument/2006/relationships/image" Target="../media/image28.svg"/><Relationship Id="R8ca4281118284080" Type="http://schemas.openxmlformats.org/officeDocument/2006/relationships/image" Target="../media/image30.svg"/><Relationship Id="R4bed8a39041d4051" Type="http://schemas.openxmlformats.org/officeDocument/2006/relationships/image" Target="../media/image31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ver-left-overlay">
            <a:extLst>
              <a:ext uri="{FF2B5EF4-FFF2-40B4-BE49-F238E27FC236}">
                <a16:creationId xmlns="" xmlns:a16="http://schemas.microsoft.com/office/drawing/2014/main" id="{6528D539-E188-4EF8-BB5A-8A005649AD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29450" cy="6858000"/>
          </a:xfrm>
          <a:prstGeom prst="rect">
            <a:avLst/>
          </a:prstGeom>
          <a:solidFill>
            <a:srgbClr val="071E18">
              <a:alpha val="94902"/>
            </a:srgbClr>
          </a:solidFill>
          <a:ln w="0">
            <a:noFill/>
            <a:prstDash val="solid"/>
          </a:ln>
        </p:spPr>
      </p:sp>
      <p:sp>
        <p:nvSpPr>
          <p:cNvPr id="3" name="cover-image-wash">
            <a:extLst>
              <a:ext uri="{FF2B5EF4-FFF2-40B4-BE49-F238E27FC236}">
                <a16:creationId xmlns="" xmlns:a16="http://schemas.microsoft.com/office/drawing/2014/main" id="{7D33F2BF-0324-4E0A-BAC2-37A10A2CDCAE}"/>
              </a:ext>
            </a:extLst>
          </p:cNvPr>
          <p:cNvSpPr>
            <a:spLocks noGrp="1"/>
          </p:cNvSpPr>
          <p:nvPr/>
        </p:nvSpPr>
        <p:spPr>
          <a:xfrm>
            <a:off x="7029450" y="0"/>
            <a:ext cx="1428750" cy="6858000"/>
          </a:xfrm>
          <a:prstGeom prst="rect">
            <a:avLst/>
          </a:prstGeom>
          <a:solidFill>
            <a:srgbClr val="071E18">
              <a:alpha val="47059"/>
            </a:srgbClr>
          </a:solidFill>
          <a:ln w="0">
            <a:noFill/>
            <a:prstDash val="solid"/>
          </a:ln>
        </p:spPr>
      </p:sp>
      <p:sp>
        <p:nvSpPr>
          <p:cNvPr id="4" name="cover-divider">
            <a:extLst>
              <a:ext uri="{FF2B5EF4-FFF2-40B4-BE49-F238E27FC236}">
                <a16:creationId xmlns="" xmlns:a16="http://schemas.microsoft.com/office/drawing/2014/main" id="{CBB99F3E-3BEE-464C-B486-BDDB71CD035C}"/>
              </a:ext>
            </a:extLst>
          </p:cNvPr>
          <p:cNvSpPr>
            <a:spLocks noGrp="1"/>
          </p:cNvSpPr>
          <p:nvPr/>
        </p:nvSpPr>
        <p:spPr>
          <a:xfrm>
            <a:off x="7010400" y="0"/>
            <a:ext cx="47625" cy="685800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5" name="cover-logo-halo">
            <a:extLst>
              <a:ext uri="{FF2B5EF4-FFF2-40B4-BE49-F238E27FC236}">
                <a16:creationId xmlns="" xmlns:a16="http://schemas.microsoft.com/office/drawing/2014/main" id="{1217CFBB-BA36-40AD-B5F2-A75B8C49050A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876300" cy="876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A15B"/>
            </a:solidFill>
            <a:prstDash val="solid"/>
          </a:ln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2475" y="504825"/>
            <a:ext cx="742950" cy="742950"/>
          </a:xfrm>
          <a:prstGeom prst="rect">
            <a:avLst/>
          </a:prstGeom>
        </p:spPr>
      </p:pic>
      <p:sp>
        <p:nvSpPr>
          <p:cNvPr id="7" name="cover-tag-line">
            <a:extLst>
              <a:ext uri="{FF2B5EF4-FFF2-40B4-BE49-F238E27FC236}">
                <a16:creationId xmlns="" xmlns:a16="http://schemas.microsoft.com/office/drawing/2014/main" id="{91770DE7-9153-49D8-A223-FD3AB120076F}"/>
              </a:ext>
            </a:extLst>
          </p:cNvPr>
          <p:cNvSpPr>
            <a:spLocks noGrp="1"/>
          </p:cNvSpPr>
          <p:nvPr/>
        </p:nvSpPr>
        <p:spPr>
          <a:xfrm>
            <a:off x="1809750" y="742950"/>
            <a:ext cx="704850" cy="47625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8" name="cover-eyebrow">
            <a:extLst>
              <a:ext uri="{FF2B5EF4-FFF2-40B4-BE49-F238E27FC236}">
                <a16:creationId xmlns="" xmlns:a16="http://schemas.microsoft.com/office/drawing/2014/main" id="{8A0B851E-7519-454A-B59E-9BC1C72A6CEE}"/>
              </a:ext>
            </a:extLst>
          </p:cNvPr>
          <p:cNvSpPr>
            <a:spLocks noGrp="1"/>
          </p:cNvSpPr>
          <p:nvPr/>
        </p:nvSpPr>
        <p:spPr>
          <a:xfrm>
            <a:off x="1809750" y="9048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• DIGITAL TRANSFORMATION</a:t>
            </a:r>
          </a:p>
        </p:txBody>
      </p:sp>
      <p:sp>
        <p:nvSpPr>
          <p:cNvPr id="9" name="cover-title">
            <a:extLst>
              <a:ext uri="{FF2B5EF4-FFF2-40B4-BE49-F238E27FC236}">
                <a16:creationId xmlns="" xmlns:a16="http://schemas.microsoft.com/office/drawing/2014/main" id="{F9F6C2F0-DBAA-40C3-A49F-7CF42B9885E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5905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</a:t>
            </a:r>
            <a:r>
              <a:rPr sz="4425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DIGITAL</a:t>
            </a:r>
            <a:endParaRPr sz="4425" b="1" i="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PLATFORM</a:t>
            </a:r>
            <a:r>
              <a:rPr lang="en-US" sz="4425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4425" b="1" i="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cover-title-rule">
            <a:extLst>
              <a:ext uri="{FF2B5EF4-FFF2-40B4-BE49-F238E27FC236}">
                <a16:creationId xmlns="" xmlns:a16="http://schemas.microsoft.com/office/drawing/2014/main" id="{97BAA84E-5EAA-4D4D-AD58-006189E6098B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16002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11" name="cover-subtitle">
            <a:extLst>
              <a:ext uri="{FF2B5EF4-FFF2-40B4-BE49-F238E27FC236}">
                <a16:creationId xmlns="" xmlns:a16="http://schemas.microsoft.com/office/drawing/2014/main" id="{A5859E38-7F2F-44E5-9A74-A9523C3517A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Building a Connected, Transparent and</a:t>
            </a:r>
          </a:p>
          <a:p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Future-Ready Roundu Community</a:t>
            </a:r>
          </a:p>
        </p:txBody>
      </p:sp>
      <p:sp>
        <p:nvSpPr>
          <p:cNvPr id="12" name="cover-presenter">
            <a:extLst>
              <a:ext uri="{FF2B5EF4-FFF2-40B4-BE49-F238E27FC236}">
                <a16:creationId xmlns="" xmlns:a16="http://schemas.microsoft.com/office/drawing/2014/main" id="{52AF08B8-C2AB-42E7-9FE4-6B04A02EAB21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SHABBIR HUSSAIN</a:t>
            </a:r>
          </a:p>
        </p:txBody>
      </p:sp>
      <p:sp>
        <p:nvSpPr>
          <p:cNvPr id="13" name="cover-role">
            <a:extLst>
              <a:ext uri="{FF2B5EF4-FFF2-40B4-BE49-F238E27FC236}">
                <a16:creationId xmlns="" xmlns:a16="http://schemas.microsoft.com/office/drawing/2014/main" id="{28ECF014-CC24-491D-A939-366B7758FEE4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Technical Coordinator – TNR</a:t>
            </a:r>
          </a:p>
        </p:txBody>
      </p:sp>
      <p:sp>
        <p:nvSpPr>
          <p:cNvPr id="14" name="cover-date">
            <a:extLst>
              <a:ext uri="{FF2B5EF4-FFF2-40B4-BE49-F238E27FC236}">
                <a16:creationId xmlns="" xmlns:a16="http://schemas.microsoft.com/office/drawing/2014/main" id="{07865AC2-C9AC-4265-9A0C-4ADCA2721D2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OFFICIAL PLATFORM OVERVIEW</a:t>
            </a:r>
          </a:p>
        </p:txBody>
      </p:sp>
      <p:sp>
        <p:nvSpPr>
          <p:cNvPr id="15" name="cover-site">
            <a:extLst>
              <a:ext uri="{FF2B5EF4-FFF2-40B4-BE49-F238E27FC236}">
                <a16:creationId xmlns="" xmlns:a16="http://schemas.microsoft.com/office/drawing/2014/main" id="{E2DB07C8-1F5A-4FCB-A9A7-B4BFE9E7BE6D}"/>
              </a:ext>
            </a:extLst>
          </p:cNvPr>
          <p:cNvSpPr>
            <a:spLocks noGrp="1"/>
          </p:cNvSpPr>
          <p:nvPr/>
        </p:nvSpPr>
        <p:spPr>
          <a:xfrm>
            <a:off x="9715500" y="6372225"/>
            <a:ext cx="1790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825" b="1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</a:t>
            </a:r>
            <a:endParaRPr sz="825" b="1" i="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70242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rand-gold-square">
            <a:extLst>
              <a:ext uri="{FF2B5EF4-FFF2-40B4-BE49-F238E27FC236}">
                <a16:creationId xmlns="" xmlns:a16="http://schemas.microsoft.com/office/drawing/2014/main" id="{FC57BDEB-5A9F-4A66-BE1B-18D0DC4D377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1C74A2E8-E347-4930-82B9-3247DAB5B82B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5BDBC007-3A65-4D0F-AF60-7E33B0B0A16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000" b="1" i="0" dirty="0" smtClean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Why TNR Digital Platform?</a:t>
            </a:r>
            <a:endParaRPr sz="3000" b="1" i="0" dirty="0">
              <a:solidFill>
                <a:srgbClr val="0D3B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slide-subtitle">
            <a:extLst>
              <a:ext uri="{FF2B5EF4-FFF2-40B4-BE49-F238E27FC236}">
                <a16:creationId xmlns="" xmlns:a16="http://schemas.microsoft.com/office/drawing/2014/main" id="{3F0B986D-7C2F-4246-9C76-02E27519A93E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shared digital foundation replaces fragmented records, tools and communication.</a:t>
            </a:r>
          </a:p>
        </p:txBody>
      </p:sp>
      <p:sp>
        <p:nvSpPr>
          <p:cNvPr id="5" name="why-left-band">
            <a:extLst>
              <a:ext uri="{FF2B5EF4-FFF2-40B4-BE49-F238E27FC236}">
                <a16:creationId xmlns="" xmlns:a16="http://schemas.microsoft.com/office/drawing/2014/main" id="{B4B3C132-3897-48B8-A331-7D42D1DFAF01}"/>
              </a:ext>
            </a:extLst>
          </p:cNvPr>
          <p:cNvSpPr>
            <a:spLocks noGrp="1"/>
          </p:cNvSpPr>
          <p:nvPr/>
        </p:nvSpPr>
        <p:spPr>
          <a:xfrm>
            <a:off x="0" y="1924050"/>
            <a:ext cx="3714750" cy="409575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why-kicker">
            <a:extLst>
              <a:ext uri="{FF2B5EF4-FFF2-40B4-BE49-F238E27FC236}">
                <a16:creationId xmlns="" xmlns:a16="http://schemas.microsoft.com/office/drawing/2014/main" id="{579BBF44-CD3B-4F0D-BDDB-29288458D8E9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 dirty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7" name="why-statement">
            <a:extLst>
              <a:ext uri="{FF2B5EF4-FFF2-40B4-BE49-F238E27FC236}">
                <a16:creationId xmlns="" xmlns:a16="http://schemas.microsoft.com/office/drawing/2014/main" id="{C08D5913-B7C9-4F61-9465-EBAB256627EE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2476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reliable</a:t>
            </a:r>
          </a:p>
          <a:p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8" name="why-support">
            <a:extLst>
              <a:ext uri="{FF2B5EF4-FFF2-40B4-BE49-F238E27FC236}">
                <a16:creationId xmlns="" xmlns:a16="http://schemas.microsoft.com/office/drawing/2014/main" id="{AE5CB652-12B9-44D7-8D1B-E3833468363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2457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Centralization makes information easier to find, services easier to access, and decisions easier to understand.</a:t>
            </a:r>
          </a:p>
        </p:txBody>
      </p:sp>
      <p:sp>
        <p:nvSpPr>
          <p:cNvPr id="9" name="why-item-0-dot">
            <a:extLst>
              <a:ext uri="{FF2B5EF4-FFF2-40B4-BE49-F238E27FC236}">
                <a16:creationId xmlns="" xmlns:a16="http://schemas.microsoft.com/office/drawing/2014/main" id="{59DEB906-EC6D-4259-A00B-810ACCF750A0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0" name="why-label-0">
            <a:extLst>
              <a:ext uri="{FF2B5EF4-FFF2-40B4-BE49-F238E27FC236}">
                <a16:creationId xmlns="" xmlns:a16="http://schemas.microsoft.com/office/drawing/2014/main" id="{B459F152-1D41-44A3-AB87-D3B2A803A51B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1" name="why-item-1-dot">
            <a:extLst>
              <a:ext uri="{FF2B5EF4-FFF2-40B4-BE49-F238E27FC236}">
                <a16:creationId xmlns="" xmlns:a16="http://schemas.microsoft.com/office/drawing/2014/main" id="{9355DD1A-3A16-4782-9836-620F1E4ABA59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2" name="why-label-1">
            <a:extLst>
              <a:ext uri="{FF2B5EF4-FFF2-40B4-BE49-F238E27FC236}">
                <a16:creationId xmlns="" xmlns:a16="http://schemas.microsoft.com/office/drawing/2014/main" id="{0E610E74-F12F-43ED-8917-C5E299FB8215}"/>
              </a:ext>
            </a:extLst>
          </p:cNvPr>
          <p:cNvSpPr>
            <a:spLocks noGrp="1"/>
          </p:cNvSpPr>
          <p:nvPr/>
        </p:nvSpPr>
        <p:spPr>
          <a:xfrm>
            <a:off x="914400" y="4829175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3" name="why-item-2-dot">
            <a:extLst>
              <a:ext uri="{FF2B5EF4-FFF2-40B4-BE49-F238E27FC236}">
                <a16:creationId xmlns="" xmlns:a16="http://schemas.microsoft.com/office/drawing/2014/main" id="{CB07C47C-C3D2-4479-BE58-59A3737588AD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4" name="why-label-2">
            <a:extLst>
              <a:ext uri="{FF2B5EF4-FFF2-40B4-BE49-F238E27FC236}">
                <a16:creationId xmlns="" xmlns:a16="http://schemas.microsoft.com/office/drawing/2014/main" id="{8C9D69F7-4651-489A-A390-21D8DD3E4B8E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15" name="why-item-3-dot">
            <a:extLst>
              <a:ext uri="{FF2B5EF4-FFF2-40B4-BE49-F238E27FC236}">
                <a16:creationId xmlns="" xmlns:a16="http://schemas.microsoft.com/office/drawing/2014/main" id="{85259EF6-B3FE-4BDF-BFE8-69A3E369190B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95250" cy="95250"/>
          </a:xfrm>
          <a:prstGeom prst="ellipse">
            <a:avLst/>
          </a:prstGeom>
          <a:solidFill>
            <a:srgbClr val="E8D6AB"/>
          </a:solidFill>
          <a:ln w="0">
            <a:noFill/>
            <a:prstDash val="solid"/>
          </a:ln>
        </p:spPr>
      </p:sp>
      <p:sp>
        <p:nvSpPr>
          <p:cNvPr id="16" name="why-label-3">
            <a:extLst>
              <a:ext uri="{FF2B5EF4-FFF2-40B4-BE49-F238E27FC236}">
                <a16:creationId xmlns="" xmlns:a16="http://schemas.microsoft.com/office/drawing/2014/main" id="{8F042980-014E-4CCD-9BB5-10BEA5B9D13A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17" name="why-item-4-dot">
            <a:extLst>
              <a:ext uri="{FF2B5EF4-FFF2-40B4-BE49-F238E27FC236}">
                <a16:creationId xmlns="" xmlns:a16="http://schemas.microsoft.com/office/drawing/2014/main" id="{9FB94055-D384-44FD-AC4B-8A7B8CC9A6B2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95250" cy="95250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8" name="why-label-4">
            <a:extLst>
              <a:ext uri="{FF2B5EF4-FFF2-40B4-BE49-F238E27FC236}">
                <a16:creationId xmlns="" xmlns:a16="http://schemas.microsoft.com/office/drawing/2014/main" id="{392F81C1-AF74-48E8-A9C9-19099BF10B8B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19" name="dashboard-live-label">
            <a:extLst>
              <a:ext uri="{FF2B5EF4-FFF2-40B4-BE49-F238E27FC236}">
                <a16:creationId xmlns="" xmlns:a16="http://schemas.microsoft.com/office/drawing/2014/main" id="{20B9D9B8-F564-4F62-B64F-CD48331D129E}"/>
              </a:ext>
            </a:extLst>
          </p:cNvPr>
          <p:cNvSpPr>
            <a:spLocks noGrp="1"/>
          </p:cNvSpPr>
          <p:nvPr/>
        </p:nvSpPr>
        <p:spPr>
          <a:xfrm>
            <a:off x="8534400" y="1724025"/>
            <a:ext cx="297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MEMBER PORTAL VIEW</a:t>
            </a:r>
          </a:p>
        </p:txBody>
      </p:sp>
      <p:sp>
        <p:nvSpPr>
          <p:cNvPr id="20" name="dashboard-shadow">
            <a:extLst>
              <a:ext uri="{FF2B5EF4-FFF2-40B4-BE49-F238E27FC236}">
                <a16:creationId xmlns="" xmlns:a16="http://schemas.microsoft.com/office/drawing/2014/main" id="{4FCC407F-C0E5-47B1-A077-6DE2194B1F6A}"/>
              </a:ext>
            </a:extLst>
          </p:cNvPr>
          <p:cNvSpPr>
            <a:spLocks noGrp="1"/>
          </p:cNvSpPr>
          <p:nvPr/>
        </p:nvSpPr>
        <p:spPr>
          <a:xfrm>
            <a:off x="4476750" y="1962150"/>
            <a:ext cx="7029450" cy="4381500"/>
          </a:xfrm>
          <a:prstGeom prst="roundRect">
            <a:avLst>
              <a:gd name="adj" fmla="val 3913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21" name="dashboard-frame">
            <a:extLst>
              <a:ext uri="{FF2B5EF4-FFF2-40B4-BE49-F238E27FC236}">
                <a16:creationId xmlns="" xmlns:a16="http://schemas.microsoft.com/office/drawing/2014/main" id="{A0E31A0E-1EA4-4231-9450-7DF6DFAA4739}"/>
              </a:ext>
            </a:extLst>
          </p:cNvPr>
          <p:cNvSpPr>
            <a:spLocks noGrp="1"/>
          </p:cNvSpPr>
          <p:nvPr/>
        </p:nvSpPr>
        <p:spPr>
          <a:xfrm>
            <a:off x="4343400" y="1828800"/>
            <a:ext cx="7162800" cy="43815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72445" y="1962150"/>
            <a:ext cx="6504709" cy="4114800"/>
          </a:xfrm>
          <a:prstGeom prst="rect">
            <a:avLst/>
          </a:prstGeom>
        </p:spPr>
      </p:pic>
      <p:sp>
        <p:nvSpPr>
          <p:cNvPr id="23" name="footer-rule-2">
            <a:extLst>
              <a:ext uri="{FF2B5EF4-FFF2-40B4-BE49-F238E27FC236}">
                <a16:creationId xmlns="" xmlns:a16="http://schemas.microsoft.com/office/drawing/2014/main" id="{0FA7D13D-810E-47BD-BCBB-5C08EA3E1397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24" name="footer-label-2">
            <a:extLst>
              <a:ext uri="{FF2B5EF4-FFF2-40B4-BE49-F238E27FC236}">
                <a16:creationId xmlns="" xmlns:a16="http://schemas.microsoft.com/office/drawing/2014/main" id="{22397725-24A4-421F-B955-77F95B0F5C8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25" name="footer-page-2">
            <a:extLst>
              <a:ext uri="{FF2B5EF4-FFF2-40B4-BE49-F238E27FC236}">
                <a16:creationId xmlns="" xmlns:a16="http://schemas.microsoft.com/office/drawing/2014/main" id="{680DAC0B-DCC4-4943-8D16-9553BAEA49F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834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2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9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6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3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2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10" grpId="0"/>
      <p:bldP spid="12" grpId="0"/>
      <p:bldP spid="14" grpId="0"/>
      <p:bldP spid="16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rand-gold-square">
            <a:extLst>
              <a:ext uri="{FF2B5EF4-FFF2-40B4-BE49-F238E27FC236}">
                <a16:creationId xmlns="" xmlns:a16="http://schemas.microsoft.com/office/drawing/2014/main" id="{CA3742D5-7DC2-48CF-B416-4E7D1B2C906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A6680F6D-8B71-4DF7-B9C3-C242790E53C4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358D3C1E-BBF7-435F-8322-8222BD088C5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identity connects the whole community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="" xmlns:a16="http://schemas.microsoft.com/office/drawing/2014/main" id="{831C5B9E-79AF-4A51-9768-41DC798666D3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Every step builds on the one before it—ending in a connected Roundu community.</a:t>
            </a:r>
          </a:p>
        </p:txBody>
      </p:sp>
      <p:sp>
        <p:nvSpPr>
          <p:cNvPr id="5" name="vision-one">
            <a:extLst>
              <a:ext uri="{FF2B5EF4-FFF2-40B4-BE49-F238E27FC236}">
                <a16:creationId xmlns="" xmlns:a16="http://schemas.microsoft.com/office/drawing/2014/main" id="{9C2467BB-2447-4218-A866-A41EDF2832C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381375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6" name="vision-caption">
            <a:extLst>
              <a:ext uri="{FF2B5EF4-FFF2-40B4-BE49-F238E27FC236}">
                <a16:creationId xmlns="" xmlns:a16="http://schemas.microsoft.com/office/drawing/2014/main" id="{796D0F81-5186-41A9-B0B9-8A4243C008C8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95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SIMPLE PRINCIPLE.</a:t>
            </a:r>
          </a:p>
          <a:p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COMPLETE DIGITAL FOUNDATION.</a:t>
            </a:r>
          </a:p>
        </p:txBody>
      </p:sp>
      <p:sp>
        <p:nvSpPr>
          <p:cNvPr id="7" name="vision-rule">
            <a:extLst>
              <a:ext uri="{FF2B5EF4-FFF2-40B4-BE49-F238E27FC236}">
                <a16:creationId xmlns="" xmlns:a16="http://schemas.microsoft.com/office/drawing/2014/main" id="{8C497F4C-79B1-4649-9EF3-846CBA03D17B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1619250" cy="0"/>
          </a:xfrm>
          <a:prstGeom prst="line">
            <a:avLst/>
          </a:prstGeom>
          <a:noFill/>
          <a:ln w="28575">
            <a:solidFill>
              <a:srgbClr val="2D6552"/>
            </a:solidFill>
            <a:prstDash val="solid"/>
          </a:ln>
        </p:spPr>
      </p:sp>
      <p:sp>
        <p:nvSpPr>
          <p:cNvPr id="8" name="vision-promise">
            <a:extLst>
              <a:ext uri="{FF2B5EF4-FFF2-40B4-BE49-F238E27FC236}">
                <a16:creationId xmlns="" xmlns:a16="http://schemas.microsoft.com/office/drawing/2014/main" id="{EC05DE04-8585-4F60-A3FE-6F92962DEE88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2952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Identity becomes the bridge between people, services, governance and opportunity.</a:t>
            </a:r>
          </a:p>
        </p:txBody>
      </p:sp>
      <p:sp>
        <p:nvSpPr>
          <p:cNvPr id="9" name="vision-spine">
            <a:extLst>
              <a:ext uri="{FF2B5EF4-FFF2-40B4-BE49-F238E27FC236}">
                <a16:creationId xmlns="" xmlns:a16="http://schemas.microsoft.com/office/drawing/2014/main" id="{912D31F3-D422-4EE4-8040-97F6256E9909}"/>
              </a:ext>
            </a:extLst>
          </p:cNvPr>
          <p:cNvSpPr>
            <a:spLocks noGrp="1"/>
          </p:cNvSpPr>
          <p:nvPr/>
        </p:nvSpPr>
        <p:spPr>
          <a:xfrm>
            <a:off x="4791075" y="2324100"/>
            <a:ext cx="0" cy="314325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10" name="vision-node-0">
            <a:extLst>
              <a:ext uri="{FF2B5EF4-FFF2-40B4-BE49-F238E27FC236}">
                <a16:creationId xmlns="" xmlns:a16="http://schemas.microsoft.com/office/drawing/2014/main" id="{164BD668-D28D-43CB-979D-3492D2E5F57C}"/>
              </a:ext>
            </a:extLst>
          </p:cNvPr>
          <p:cNvSpPr>
            <a:spLocks noGrp="1"/>
          </p:cNvSpPr>
          <p:nvPr/>
        </p:nvSpPr>
        <p:spPr>
          <a:xfrm>
            <a:off x="4610100" y="2266950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11" name="vision-num-0">
            <a:extLst>
              <a:ext uri="{FF2B5EF4-FFF2-40B4-BE49-F238E27FC236}">
                <a16:creationId xmlns="" xmlns:a16="http://schemas.microsoft.com/office/drawing/2014/main" id="{E5947246-534A-4E3B-A179-7048D02CB087}"/>
              </a:ext>
            </a:extLst>
          </p:cNvPr>
          <p:cNvSpPr>
            <a:spLocks noGrp="1"/>
          </p:cNvSpPr>
          <p:nvPr/>
        </p:nvSpPr>
        <p:spPr>
          <a:xfrm>
            <a:off x="5257800" y="20764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09efa221fa1f48b3"/>
              </a:ext>
            </a:extLst>
          </a:blip>
          <a:stretch/>
        </p:blipFill>
        <p:spPr>
          <a:xfrm>
            <a:off x="5838825" y="2124075"/>
            <a:ext cx="304800" cy="304800"/>
          </a:xfrm>
          <a:prstGeom prst="rect">
            <a:avLst/>
          </a:prstGeom>
        </p:spPr>
      </p:pic>
      <p:sp>
        <p:nvSpPr>
          <p:cNvPr id="13" name="vision-label-0">
            <a:extLst>
              <a:ext uri="{FF2B5EF4-FFF2-40B4-BE49-F238E27FC236}">
                <a16:creationId xmlns="" xmlns:a16="http://schemas.microsoft.com/office/drawing/2014/main" id="{C9A67318-B991-4E1E-8B08-FE9BD9103D41}"/>
              </a:ext>
            </a:extLst>
          </p:cNvPr>
          <p:cNvSpPr>
            <a:spLocks noGrp="1"/>
          </p:cNvSpPr>
          <p:nvPr/>
        </p:nvSpPr>
        <p:spPr>
          <a:xfrm>
            <a:off x="6381750" y="20669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</a:t>
            </a:r>
          </a:p>
        </p:txBody>
      </p:sp>
      <p:sp>
        <p:nvSpPr>
          <p:cNvPr id="14" name="vision-desc-0">
            <a:extLst>
              <a:ext uri="{FF2B5EF4-FFF2-40B4-BE49-F238E27FC236}">
                <a16:creationId xmlns="" xmlns:a16="http://schemas.microsoft.com/office/drawing/2014/main" id="{A4D9E2E0-76C9-4C9C-8552-30D6FB932A58}"/>
              </a:ext>
            </a:extLst>
          </p:cNvPr>
          <p:cNvSpPr>
            <a:spLocks noGrp="1"/>
          </p:cNvSpPr>
          <p:nvPr/>
        </p:nvSpPr>
        <p:spPr>
          <a:xfrm>
            <a:off x="6381750" y="24384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Recognized in the community</a:t>
            </a:r>
          </a:p>
        </p:txBody>
      </p:sp>
      <p:sp>
        <p:nvSpPr>
          <p:cNvPr id="15" name="vision-node-1">
            <a:extLst>
              <a:ext uri="{FF2B5EF4-FFF2-40B4-BE49-F238E27FC236}">
                <a16:creationId xmlns="" xmlns:a16="http://schemas.microsoft.com/office/drawing/2014/main" id="{4A951904-5CA3-4579-BEEC-6AD3209104A3}"/>
              </a:ext>
            </a:extLst>
          </p:cNvPr>
          <p:cNvSpPr>
            <a:spLocks noGrp="1"/>
          </p:cNvSpPr>
          <p:nvPr/>
        </p:nvSpPr>
        <p:spPr>
          <a:xfrm>
            <a:off x="4610100" y="3057525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16" name="vision-num-1">
            <a:extLst>
              <a:ext uri="{FF2B5EF4-FFF2-40B4-BE49-F238E27FC236}">
                <a16:creationId xmlns="" xmlns:a16="http://schemas.microsoft.com/office/drawing/2014/main" id="{88B5DE59-E9AB-435C-B2F5-E9D7202518B3}"/>
              </a:ext>
            </a:extLst>
          </p:cNvPr>
          <p:cNvSpPr>
            <a:spLocks noGrp="1"/>
          </p:cNvSpPr>
          <p:nvPr/>
        </p:nvSpPr>
        <p:spPr>
          <a:xfrm>
            <a:off x="5257800" y="286702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dd05cd40159d47ba"/>
              </a:ext>
            </a:extLst>
          </a:blip>
          <a:stretch/>
        </p:blipFill>
        <p:spPr>
          <a:xfrm>
            <a:off x="5838825" y="2914650"/>
            <a:ext cx="304800" cy="304800"/>
          </a:xfrm>
          <a:prstGeom prst="rect">
            <a:avLst/>
          </a:prstGeom>
        </p:spPr>
      </p:pic>
      <p:sp>
        <p:nvSpPr>
          <p:cNvPr id="18" name="vision-label-1">
            <a:extLst>
              <a:ext uri="{FF2B5EF4-FFF2-40B4-BE49-F238E27FC236}">
                <a16:creationId xmlns="" xmlns:a16="http://schemas.microsoft.com/office/drawing/2014/main" id="{3609E226-0E5C-4856-888C-FC5217D7B65E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Profile</a:t>
            </a:r>
          </a:p>
        </p:txBody>
      </p:sp>
      <p:sp>
        <p:nvSpPr>
          <p:cNvPr id="19" name="vision-desc-1">
            <a:extLst>
              <a:ext uri="{FF2B5EF4-FFF2-40B4-BE49-F238E27FC236}">
                <a16:creationId xmlns="" xmlns:a16="http://schemas.microsoft.com/office/drawing/2014/main" id="{2EED5220-B127-4173-94BE-E9DF9667D33D}"/>
              </a:ext>
            </a:extLst>
          </p:cNvPr>
          <p:cNvSpPr>
            <a:spLocks noGrp="1"/>
          </p:cNvSpPr>
          <p:nvPr/>
        </p:nvSpPr>
        <p:spPr>
          <a:xfrm>
            <a:off x="6381750" y="322897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Always-current member record</a:t>
            </a:r>
          </a:p>
        </p:txBody>
      </p:sp>
      <p:sp>
        <p:nvSpPr>
          <p:cNvPr id="20" name="vision-node-2">
            <a:extLst>
              <a:ext uri="{FF2B5EF4-FFF2-40B4-BE49-F238E27FC236}">
                <a16:creationId xmlns="" xmlns:a16="http://schemas.microsoft.com/office/drawing/2014/main" id="{14975C2A-5AA0-4D9E-9096-44AC7CE733DA}"/>
              </a:ext>
            </a:extLst>
          </p:cNvPr>
          <p:cNvSpPr>
            <a:spLocks noGrp="1"/>
          </p:cNvSpPr>
          <p:nvPr/>
        </p:nvSpPr>
        <p:spPr>
          <a:xfrm>
            <a:off x="4610100" y="3848100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21" name="vision-num-2">
            <a:extLst>
              <a:ext uri="{FF2B5EF4-FFF2-40B4-BE49-F238E27FC236}">
                <a16:creationId xmlns="" xmlns:a16="http://schemas.microsoft.com/office/drawing/2014/main" id="{79AA5134-FCF1-481F-8475-3379BC10A3B1}"/>
              </a:ext>
            </a:extLst>
          </p:cNvPr>
          <p:cNvSpPr>
            <a:spLocks noGrp="1"/>
          </p:cNvSpPr>
          <p:nvPr/>
        </p:nvSpPr>
        <p:spPr>
          <a:xfrm>
            <a:off x="5257800" y="36576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012af79ab20346ee"/>
              </a:ext>
            </a:extLst>
          </a:blip>
          <a:stretch/>
        </p:blipFill>
        <p:spPr>
          <a:xfrm>
            <a:off x="5838825" y="3705225"/>
            <a:ext cx="304800" cy="304800"/>
          </a:xfrm>
          <a:prstGeom prst="rect">
            <a:avLst/>
          </a:prstGeom>
        </p:spPr>
      </p:pic>
      <p:sp>
        <p:nvSpPr>
          <p:cNvPr id="23" name="vision-label-2">
            <a:extLst>
              <a:ext uri="{FF2B5EF4-FFF2-40B4-BE49-F238E27FC236}">
                <a16:creationId xmlns="" xmlns:a16="http://schemas.microsoft.com/office/drawing/2014/main" id="{8C340903-87F8-4EC9-BDA5-A1D93F91845E}"/>
              </a:ext>
            </a:extLst>
          </p:cNvPr>
          <p:cNvSpPr>
            <a:spLocks noGrp="1"/>
          </p:cNvSpPr>
          <p:nvPr/>
        </p:nvSpPr>
        <p:spPr>
          <a:xfrm>
            <a:off x="6381750" y="364807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Digital Identity</a:t>
            </a:r>
          </a:p>
        </p:txBody>
      </p:sp>
      <p:sp>
        <p:nvSpPr>
          <p:cNvPr id="24" name="vision-desc-2">
            <a:extLst>
              <a:ext uri="{FF2B5EF4-FFF2-40B4-BE49-F238E27FC236}">
                <a16:creationId xmlns="" xmlns:a16="http://schemas.microsoft.com/office/drawing/2014/main" id="{E5C792A0-13C4-42D8-A8B1-365EC4E38861}"/>
              </a:ext>
            </a:extLst>
          </p:cNvPr>
          <p:cNvSpPr>
            <a:spLocks noGrp="1"/>
          </p:cNvSpPr>
          <p:nvPr/>
        </p:nvSpPr>
        <p:spPr>
          <a:xfrm>
            <a:off x="6381750" y="40195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Trusted credentials and access</a:t>
            </a:r>
          </a:p>
        </p:txBody>
      </p:sp>
      <p:sp>
        <p:nvSpPr>
          <p:cNvPr id="25" name="vision-node-3">
            <a:extLst>
              <a:ext uri="{FF2B5EF4-FFF2-40B4-BE49-F238E27FC236}">
                <a16:creationId xmlns="" xmlns:a16="http://schemas.microsoft.com/office/drawing/2014/main" id="{3AC84C7F-2702-4960-940C-004BDB44096C}"/>
              </a:ext>
            </a:extLst>
          </p:cNvPr>
          <p:cNvSpPr>
            <a:spLocks noGrp="1"/>
          </p:cNvSpPr>
          <p:nvPr/>
        </p:nvSpPr>
        <p:spPr>
          <a:xfrm>
            <a:off x="4610100" y="4638675"/>
            <a:ext cx="361950" cy="361950"/>
          </a:xfrm>
          <a:prstGeom prst="ellipse">
            <a:avLst/>
          </a:prstGeom>
          <a:solidFill>
            <a:srgbClr val="174E3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26" name="vision-num-3">
            <a:extLst>
              <a:ext uri="{FF2B5EF4-FFF2-40B4-BE49-F238E27FC236}">
                <a16:creationId xmlns="" xmlns:a16="http://schemas.microsoft.com/office/drawing/2014/main" id="{78E0DC62-1453-4A28-A51F-68CD1EE1C942}"/>
              </a:ext>
            </a:extLst>
          </p:cNvPr>
          <p:cNvSpPr>
            <a:spLocks noGrp="1"/>
          </p:cNvSpPr>
          <p:nvPr/>
        </p:nvSpPr>
        <p:spPr>
          <a:xfrm>
            <a:off x="5257800" y="44481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adf1d5657c3f4e25"/>
              </a:ext>
            </a:extLst>
          </a:blip>
          <a:stretch/>
        </p:blipFill>
        <p:spPr>
          <a:xfrm>
            <a:off x="5838825" y="4495800"/>
            <a:ext cx="304800" cy="304800"/>
          </a:xfrm>
          <a:prstGeom prst="rect">
            <a:avLst/>
          </a:prstGeom>
        </p:spPr>
      </p:pic>
      <p:sp>
        <p:nvSpPr>
          <p:cNvPr id="28" name="vision-label-3">
            <a:extLst>
              <a:ext uri="{FF2B5EF4-FFF2-40B4-BE49-F238E27FC236}">
                <a16:creationId xmlns="" xmlns:a16="http://schemas.microsoft.com/office/drawing/2014/main" id="{CF1582A5-1F82-42CC-94FC-52A00C1B5B3B}"/>
              </a:ext>
            </a:extLst>
          </p:cNvPr>
          <p:cNvSpPr>
            <a:spLocks noGrp="1"/>
          </p:cNvSpPr>
          <p:nvPr/>
        </p:nvSpPr>
        <p:spPr>
          <a:xfrm>
            <a:off x="6381750" y="44386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Centralized Database</a:t>
            </a:r>
          </a:p>
        </p:txBody>
      </p:sp>
      <p:sp>
        <p:nvSpPr>
          <p:cNvPr id="29" name="vision-desc-3">
            <a:extLst>
              <a:ext uri="{FF2B5EF4-FFF2-40B4-BE49-F238E27FC236}">
                <a16:creationId xmlns="" xmlns:a16="http://schemas.microsoft.com/office/drawing/2014/main" id="{BFD720AB-7701-4441-8405-8734F30816E1}"/>
              </a:ext>
            </a:extLst>
          </p:cNvPr>
          <p:cNvSpPr>
            <a:spLocks noGrp="1"/>
          </p:cNvSpPr>
          <p:nvPr/>
        </p:nvSpPr>
        <p:spPr>
          <a:xfrm>
            <a:off x="6381750" y="4810125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 shared source of truth</a:t>
            </a:r>
          </a:p>
        </p:txBody>
      </p:sp>
      <p:sp>
        <p:nvSpPr>
          <p:cNvPr id="30" name="vision-node-4">
            <a:extLst>
              <a:ext uri="{FF2B5EF4-FFF2-40B4-BE49-F238E27FC236}">
                <a16:creationId xmlns="" xmlns:a16="http://schemas.microsoft.com/office/drawing/2014/main" id="{B2D4B584-A768-4EEA-BD1D-3A9A9DE124E4}"/>
              </a:ext>
            </a:extLst>
          </p:cNvPr>
          <p:cNvSpPr>
            <a:spLocks noGrp="1"/>
          </p:cNvSpPr>
          <p:nvPr/>
        </p:nvSpPr>
        <p:spPr>
          <a:xfrm>
            <a:off x="4610100" y="5429250"/>
            <a:ext cx="361950" cy="361950"/>
          </a:xfrm>
          <a:prstGeom prst="ellipse">
            <a:avLst/>
          </a:prstGeom>
          <a:solidFill>
            <a:srgbClr val="C6A15B"/>
          </a:solidFill>
          <a:ln w="19050">
            <a:solidFill>
              <a:srgbClr val="C6A15B"/>
            </a:solidFill>
            <a:prstDash val="solid"/>
          </a:ln>
        </p:spPr>
      </p:sp>
      <p:sp>
        <p:nvSpPr>
          <p:cNvPr id="31" name="vision-num-4">
            <a:extLst>
              <a:ext uri="{FF2B5EF4-FFF2-40B4-BE49-F238E27FC236}">
                <a16:creationId xmlns="" xmlns:a16="http://schemas.microsoft.com/office/drawing/2014/main" id="{9076C9AF-E51F-4998-8857-69B8BB94BB8C}"/>
              </a:ext>
            </a:extLst>
          </p:cNvPr>
          <p:cNvSpPr>
            <a:spLocks noGrp="1"/>
          </p:cNvSpPr>
          <p:nvPr/>
        </p:nvSpPr>
        <p:spPr>
          <a:xfrm>
            <a:off x="5257800" y="52387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c7bb7febf20247c8"/>
              </a:ext>
            </a:extLst>
          </a:blip>
          <a:stretch/>
        </p:blipFill>
        <p:spPr>
          <a:xfrm>
            <a:off x="5838825" y="5286375"/>
            <a:ext cx="304800" cy="304800"/>
          </a:xfrm>
          <a:prstGeom prst="rect">
            <a:avLst/>
          </a:prstGeom>
        </p:spPr>
      </p:pic>
      <p:sp>
        <p:nvSpPr>
          <p:cNvPr id="33" name="vision-label-4">
            <a:extLst>
              <a:ext uri="{FF2B5EF4-FFF2-40B4-BE49-F238E27FC236}">
                <a16:creationId xmlns="" xmlns:a16="http://schemas.microsoft.com/office/drawing/2014/main" id="{39788CF4-94F1-44EC-AB35-96BD04D52522}"/>
              </a:ext>
            </a:extLst>
          </p:cNvPr>
          <p:cNvSpPr>
            <a:spLocks noGrp="1"/>
          </p:cNvSpPr>
          <p:nvPr/>
        </p:nvSpPr>
        <p:spPr>
          <a:xfrm>
            <a:off x="6381750" y="52292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  <p:sp>
        <p:nvSpPr>
          <p:cNvPr id="34" name="vision-desc-4">
            <a:extLst>
              <a:ext uri="{FF2B5EF4-FFF2-40B4-BE49-F238E27FC236}">
                <a16:creationId xmlns="" xmlns:a16="http://schemas.microsoft.com/office/drawing/2014/main" id="{7FD96A36-1A2F-4FAA-B36E-E85CFE06A51A}"/>
              </a:ext>
            </a:extLst>
          </p:cNvPr>
          <p:cNvSpPr>
            <a:spLocks noGrp="1"/>
          </p:cNvSpPr>
          <p:nvPr/>
        </p:nvSpPr>
        <p:spPr>
          <a:xfrm>
            <a:off x="6381750" y="5600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People, services and opportunity</a:t>
            </a:r>
          </a:p>
        </p:txBody>
      </p:sp>
      <p:sp>
        <p:nvSpPr>
          <p:cNvPr id="35" name="footer-rule-3">
            <a:extLst>
              <a:ext uri="{FF2B5EF4-FFF2-40B4-BE49-F238E27FC236}">
                <a16:creationId xmlns="" xmlns:a16="http://schemas.microsoft.com/office/drawing/2014/main" id="{D4302423-0C4F-4F52-9135-C90BA663E081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6" name="footer-label-3">
            <a:extLst>
              <a:ext uri="{FF2B5EF4-FFF2-40B4-BE49-F238E27FC236}">
                <a16:creationId xmlns="" xmlns:a16="http://schemas.microsoft.com/office/drawing/2014/main" id="{0AD63276-672B-4A30-B8F2-56DB4F6426A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7" name="footer-page-3">
            <a:extLst>
              <a:ext uri="{FF2B5EF4-FFF2-40B4-BE49-F238E27FC236}">
                <a16:creationId xmlns="" xmlns:a16="http://schemas.microsoft.com/office/drawing/2014/main" id="{6A94F7B7-CEA4-4208-B6B2-A9228F5BF4F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332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4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8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20"/>
                            </p:stCondLst>
                            <p:childTnLst>
                              <p:par>
                                <p:cTn id="52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660"/>
                            </p:stCondLst>
                            <p:childTnLst>
                              <p:par>
                                <p:cTn id="63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3" grpId="0"/>
      <p:bldP spid="14" grpId="0"/>
      <p:bldP spid="18" grpId="0"/>
      <p:bldP spid="19" grpId="0"/>
      <p:bldP spid="23" grpId="0"/>
      <p:bldP spid="24" grpId="0"/>
      <p:bldP spid="28" grpId="0"/>
      <p:bldP spid="29" grpId="0"/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brand-gold-square">
            <a:extLst>
              <a:ext uri="{FF2B5EF4-FFF2-40B4-BE49-F238E27FC236}">
                <a16:creationId xmlns="" xmlns:a16="http://schemas.microsoft.com/office/drawing/2014/main" id="{C474D495-58FB-4751-AB21-E36D011D00D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4D671B6C-40D8-4D22-927E-6D29C3F57C09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9645C84C-DA49-4A12-8D1C-AB3D3DE8652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Twenty-four implemented modules power the platform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="" xmlns:a16="http://schemas.microsoft.com/office/drawing/2014/main" id="{E2D2B987-22B7-4342-89E7-8AF4847219E5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complete operating layer across access, trust, member services, governance and intelligence.</a:t>
            </a:r>
          </a:p>
        </p:txBody>
      </p:sp>
      <p:sp>
        <p:nvSpPr>
          <p:cNvPr id="5" name="completed-divider-0">
            <a:extLst>
              <a:ext uri="{FF2B5EF4-FFF2-40B4-BE49-F238E27FC236}">
                <a16:creationId xmlns="" xmlns:a16="http://schemas.microsoft.com/office/drawing/2014/main" id="{38FD6C35-1B6E-48AD-BBDF-C8440248DBF3}"/>
              </a:ext>
            </a:extLst>
          </p:cNvPr>
          <p:cNvSpPr>
            <a:spLocks noGrp="1"/>
          </p:cNvSpPr>
          <p:nvPr/>
        </p:nvSpPr>
        <p:spPr>
          <a:xfrm>
            <a:off x="4143375" y="2009775"/>
            <a:ext cx="0" cy="394335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6" name="completed-divider-1">
            <a:extLst>
              <a:ext uri="{FF2B5EF4-FFF2-40B4-BE49-F238E27FC236}">
                <a16:creationId xmlns="" xmlns:a16="http://schemas.microsoft.com/office/drawing/2014/main" id="{D1C46E39-5326-4EFA-9F16-67EDB89A7725}"/>
              </a:ext>
            </a:extLst>
          </p:cNvPr>
          <p:cNvSpPr>
            <a:spLocks noGrp="1"/>
          </p:cNvSpPr>
          <p:nvPr/>
        </p:nvSpPr>
        <p:spPr>
          <a:xfrm>
            <a:off x="7829550" y="2009775"/>
            <a:ext cx="0" cy="394335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7" name="completed-column-header-0">
            <a:extLst>
              <a:ext uri="{FF2B5EF4-FFF2-40B4-BE49-F238E27FC236}">
                <a16:creationId xmlns="" xmlns:a16="http://schemas.microsoft.com/office/drawing/2014/main" id="{34ADD88C-8B2A-4FA5-B179-C8F3F59D1863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FOUNDATION &amp; ACCESS</a:t>
            </a:r>
          </a:p>
        </p:txBody>
      </p:sp>
      <p:sp>
        <p:nvSpPr>
          <p:cNvPr id="8" name="completed-column-rule-0">
            <a:extLst>
              <a:ext uri="{FF2B5EF4-FFF2-40B4-BE49-F238E27FC236}">
                <a16:creationId xmlns="" xmlns:a16="http://schemas.microsoft.com/office/drawing/2014/main" id="{314D0D1D-FA92-4771-880E-851890BE2AAA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31623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9" name="completed-number-0">
            <a:extLst>
              <a:ext uri="{FF2B5EF4-FFF2-40B4-BE49-F238E27FC236}">
                <a16:creationId xmlns="" xmlns:a16="http://schemas.microsoft.com/office/drawing/2014/main" id="{BE91A935-2DB6-4CD3-935E-698C21257BE1}"/>
              </a:ext>
            </a:extLst>
          </p:cNvPr>
          <p:cNvSpPr>
            <a:spLocks noGrp="1"/>
          </p:cNvSpPr>
          <p:nvPr/>
        </p:nvSpPr>
        <p:spPr>
          <a:xfrm>
            <a:off x="685800" y="24479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completed-label-0">
            <a:extLst>
              <a:ext uri="{FF2B5EF4-FFF2-40B4-BE49-F238E27FC236}">
                <a16:creationId xmlns="" xmlns:a16="http://schemas.microsoft.com/office/drawing/2014/main" id="{E5FFBBFF-64B1-4CFE-A7B4-0C030795D896}"/>
              </a:ext>
            </a:extLst>
          </p:cNvPr>
          <p:cNvSpPr>
            <a:spLocks noGrp="1"/>
          </p:cNvSpPr>
          <p:nvPr/>
        </p:nvSpPr>
        <p:spPr>
          <a:xfrm>
            <a:off x="1104900" y="24288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TNR Public Website</a:t>
            </a:r>
          </a:p>
        </p:txBody>
      </p:sp>
      <p:sp>
        <p:nvSpPr>
          <p:cNvPr id="11" name="completed-number-1">
            <a:extLst>
              <a:ext uri="{FF2B5EF4-FFF2-40B4-BE49-F238E27FC236}">
                <a16:creationId xmlns="" xmlns:a16="http://schemas.microsoft.com/office/drawing/2014/main" id="{08ABED0B-90D6-42E3-BFB0-AC935C13C0B1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completed-label-1">
            <a:extLst>
              <a:ext uri="{FF2B5EF4-FFF2-40B4-BE49-F238E27FC236}">
                <a16:creationId xmlns="" xmlns:a16="http://schemas.microsoft.com/office/drawing/2014/main" id="{DDD3D213-90D2-4CE0-8AB7-4C41470D2F0A}"/>
              </a:ext>
            </a:extLst>
          </p:cNvPr>
          <p:cNvSpPr>
            <a:spLocks noGrp="1"/>
          </p:cNvSpPr>
          <p:nvPr/>
        </p:nvSpPr>
        <p:spPr>
          <a:xfrm>
            <a:off x="1104900" y="28670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Membership Management System</a:t>
            </a:r>
          </a:p>
        </p:txBody>
      </p:sp>
      <p:sp>
        <p:nvSpPr>
          <p:cNvPr id="13" name="completed-number-2">
            <a:extLst>
              <a:ext uri="{FF2B5EF4-FFF2-40B4-BE49-F238E27FC236}">
                <a16:creationId xmlns="" xmlns:a16="http://schemas.microsoft.com/office/drawing/2014/main" id="{605AF830-25E8-4C54-B1EB-26F494A1B1DB}"/>
              </a:ext>
            </a:extLst>
          </p:cNvPr>
          <p:cNvSpPr>
            <a:spLocks noGrp="1"/>
          </p:cNvSpPr>
          <p:nvPr/>
        </p:nvSpPr>
        <p:spPr>
          <a:xfrm>
            <a:off x="685800" y="33242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completed-label-2">
            <a:extLst>
              <a:ext uri="{FF2B5EF4-FFF2-40B4-BE49-F238E27FC236}">
                <a16:creationId xmlns="" xmlns:a16="http://schemas.microsoft.com/office/drawing/2014/main" id="{49A32E9A-148F-4611-B241-D08612D125EB}"/>
              </a:ext>
            </a:extLst>
          </p:cNvPr>
          <p:cNvSpPr>
            <a:spLocks noGrp="1"/>
          </p:cNvSpPr>
          <p:nvPr/>
        </p:nvSpPr>
        <p:spPr>
          <a:xfrm>
            <a:off x="1104900" y="33051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 Registration and Login</a:t>
            </a:r>
          </a:p>
        </p:txBody>
      </p:sp>
      <p:sp>
        <p:nvSpPr>
          <p:cNvPr id="15" name="completed-number-3">
            <a:extLst>
              <a:ext uri="{FF2B5EF4-FFF2-40B4-BE49-F238E27FC236}">
                <a16:creationId xmlns="" xmlns:a16="http://schemas.microsoft.com/office/drawing/2014/main" id="{68BE05B8-EF9C-4078-BC86-1B3E7C5D2C1D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6" name="completed-label-3">
            <a:extLst>
              <a:ext uri="{FF2B5EF4-FFF2-40B4-BE49-F238E27FC236}">
                <a16:creationId xmlns="" xmlns:a16="http://schemas.microsoft.com/office/drawing/2014/main" id="{EBB7045F-BBF5-437D-8C9F-15C06133BEC3}"/>
              </a:ext>
            </a:extLst>
          </p:cNvPr>
          <p:cNvSpPr>
            <a:spLocks noGrp="1"/>
          </p:cNvSpPr>
          <p:nvPr/>
        </p:nvSpPr>
        <p:spPr>
          <a:xfrm>
            <a:off x="1104900" y="37433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 Profile Management</a:t>
            </a:r>
          </a:p>
        </p:txBody>
      </p:sp>
      <p:sp>
        <p:nvSpPr>
          <p:cNvPr id="17" name="completed-number-4">
            <a:extLst>
              <a:ext uri="{FF2B5EF4-FFF2-40B4-BE49-F238E27FC236}">
                <a16:creationId xmlns="" xmlns:a16="http://schemas.microsoft.com/office/drawing/2014/main" id="{89E73F96-2593-4ACE-BF8B-3DE1D9914255}"/>
              </a:ext>
            </a:extLst>
          </p:cNvPr>
          <p:cNvSpPr>
            <a:spLocks noGrp="1"/>
          </p:cNvSpPr>
          <p:nvPr/>
        </p:nvSpPr>
        <p:spPr>
          <a:xfrm>
            <a:off x="685800" y="42005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8" name="completed-label-4">
            <a:extLst>
              <a:ext uri="{FF2B5EF4-FFF2-40B4-BE49-F238E27FC236}">
                <a16:creationId xmlns="" xmlns:a16="http://schemas.microsoft.com/office/drawing/2014/main" id="{BE899EE1-31C6-46F6-A27E-D1CC48DD0DBF}"/>
              </a:ext>
            </a:extLst>
          </p:cNvPr>
          <p:cNvSpPr>
            <a:spLocks noGrp="1"/>
          </p:cNvSpPr>
          <p:nvPr/>
        </p:nvSpPr>
        <p:spPr>
          <a:xfrm>
            <a:off x="1104900" y="41814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Admin Dashboard</a:t>
            </a:r>
          </a:p>
        </p:txBody>
      </p:sp>
      <p:sp>
        <p:nvSpPr>
          <p:cNvPr id="19" name="completed-number-5">
            <a:extLst>
              <a:ext uri="{FF2B5EF4-FFF2-40B4-BE49-F238E27FC236}">
                <a16:creationId xmlns="" xmlns:a16="http://schemas.microsoft.com/office/drawing/2014/main" id="{A8D50051-60CE-45D7-990A-E68DCD6F7960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20" name="completed-label-5">
            <a:extLst>
              <a:ext uri="{FF2B5EF4-FFF2-40B4-BE49-F238E27FC236}">
                <a16:creationId xmlns="" xmlns:a16="http://schemas.microsoft.com/office/drawing/2014/main" id="{7481D2D9-DEFF-4257-9FB8-D4ED7B20ADA0}"/>
              </a:ext>
            </a:extLst>
          </p:cNvPr>
          <p:cNvSpPr>
            <a:spLocks noGrp="1"/>
          </p:cNvSpPr>
          <p:nvPr/>
        </p:nvSpPr>
        <p:spPr>
          <a:xfrm>
            <a:off x="1104900" y="46196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Role-Based Portals</a:t>
            </a:r>
          </a:p>
        </p:txBody>
      </p:sp>
      <p:sp>
        <p:nvSpPr>
          <p:cNvPr id="21" name="completed-number-6">
            <a:extLst>
              <a:ext uri="{FF2B5EF4-FFF2-40B4-BE49-F238E27FC236}">
                <a16:creationId xmlns="" xmlns:a16="http://schemas.microsoft.com/office/drawing/2014/main" id="{3E50B885-1922-4796-B600-56E59E6C109E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22" name="completed-label-6">
            <a:extLst>
              <a:ext uri="{FF2B5EF4-FFF2-40B4-BE49-F238E27FC236}">
                <a16:creationId xmlns="" xmlns:a16="http://schemas.microsoft.com/office/drawing/2014/main" id="{95C70EBB-BE20-40BA-A702-6C999F4E0877}"/>
              </a:ext>
            </a:extLst>
          </p:cNvPr>
          <p:cNvSpPr>
            <a:spLocks noGrp="1"/>
          </p:cNvSpPr>
          <p:nvPr/>
        </p:nvSpPr>
        <p:spPr>
          <a:xfrm>
            <a:off x="1104900" y="50577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Security and Verification</a:t>
            </a:r>
          </a:p>
        </p:txBody>
      </p:sp>
      <p:sp>
        <p:nvSpPr>
          <p:cNvPr id="23" name="completed-number-7">
            <a:extLst>
              <a:ext uri="{FF2B5EF4-FFF2-40B4-BE49-F238E27FC236}">
                <a16:creationId xmlns="" xmlns:a16="http://schemas.microsoft.com/office/drawing/2014/main" id="{A5259A4F-BE4F-4455-A5B9-9690C3BB9DBD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24" name="completed-label-7">
            <a:extLst>
              <a:ext uri="{FF2B5EF4-FFF2-40B4-BE49-F238E27FC236}">
                <a16:creationId xmlns="" xmlns:a16="http://schemas.microsoft.com/office/drawing/2014/main" id="{9AF813AA-4E2A-4988-BFDB-B4A6063C48A8}"/>
              </a:ext>
            </a:extLst>
          </p:cNvPr>
          <p:cNvSpPr>
            <a:spLocks noGrp="1"/>
          </p:cNvSpPr>
          <p:nvPr/>
        </p:nvSpPr>
        <p:spPr>
          <a:xfrm>
            <a:off x="1104900" y="54959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Reports and Analytics</a:t>
            </a:r>
          </a:p>
        </p:txBody>
      </p:sp>
      <p:sp>
        <p:nvSpPr>
          <p:cNvPr id="25" name="completed-column-header-1">
            <a:extLst>
              <a:ext uri="{FF2B5EF4-FFF2-40B4-BE49-F238E27FC236}">
                <a16:creationId xmlns="" xmlns:a16="http://schemas.microsoft.com/office/drawing/2014/main" id="{852CC7A4-7EE0-41E2-A578-2D7931AEF814}"/>
              </a:ext>
            </a:extLst>
          </p:cNvPr>
          <p:cNvSpPr>
            <a:spLocks noGrp="1"/>
          </p:cNvSpPr>
          <p:nvPr/>
        </p:nvSpPr>
        <p:spPr>
          <a:xfrm>
            <a:off x="4371975" y="20097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MEMBER SERVICES &amp; TRUST</a:t>
            </a:r>
          </a:p>
        </p:txBody>
      </p:sp>
      <p:sp>
        <p:nvSpPr>
          <p:cNvPr id="26" name="completed-column-rule-1">
            <a:extLst>
              <a:ext uri="{FF2B5EF4-FFF2-40B4-BE49-F238E27FC236}">
                <a16:creationId xmlns="" xmlns:a16="http://schemas.microsoft.com/office/drawing/2014/main" id="{CDDE318F-2EEA-4116-AF27-F3F5924F3D1F}"/>
              </a:ext>
            </a:extLst>
          </p:cNvPr>
          <p:cNvSpPr>
            <a:spLocks noGrp="1"/>
          </p:cNvSpPr>
          <p:nvPr/>
        </p:nvSpPr>
        <p:spPr>
          <a:xfrm>
            <a:off x="4371975" y="2276475"/>
            <a:ext cx="31623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27" name="completed-number-8">
            <a:extLst>
              <a:ext uri="{FF2B5EF4-FFF2-40B4-BE49-F238E27FC236}">
                <a16:creationId xmlns="" xmlns:a16="http://schemas.microsoft.com/office/drawing/2014/main" id="{F78DBB51-4D55-47EA-8A2D-8E6537DCAF2E}"/>
              </a:ext>
            </a:extLst>
          </p:cNvPr>
          <p:cNvSpPr>
            <a:spLocks noGrp="1"/>
          </p:cNvSpPr>
          <p:nvPr/>
        </p:nvSpPr>
        <p:spPr>
          <a:xfrm>
            <a:off x="4371975" y="24479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28" name="completed-label-8">
            <a:extLst>
              <a:ext uri="{FF2B5EF4-FFF2-40B4-BE49-F238E27FC236}">
                <a16:creationId xmlns="" xmlns:a16="http://schemas.microsoft.com/office/drawing/2014/main" id="{3F249BEA-709E-4375-9D15-A722DF1CDD7B}"/>
              </a:ext>
            </a:extLst>
          </p:cNvPr>
          <p:cNvSpPr>
            <a:spLocks noGrp="1"/>
          </p:cNvSpPr>
          <p:nvPr/>
        </p:nvSpPr>
        <p:spPr>
          <a:xfrm>
            <a:off x="4791075" y="24288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TNR Digital Membership Card</a:t>
            </a:r>
          </a:p>
        </p:txBody>
      </p:sp>
      <p:sp>
        <p:nvSpPr>
          <p:cNvPr id="29" name="completed-number-9">
            <a:extLst>
              <a:ext uri="{FF2B5EF4-FFF2-40B4-BE49-F238E27FC236}">
                <a16:creationId xmlns="" xmlns:a16="http://schemas.microsoft.com/office/drawing/2014/main" id="{0AAFC5F8-2FD4-4434-88FE-3E651B9C91E3}"/>
              </a:ext>
            </a:extLst>
          </p:cNvPr>
          <p:cNvSpPr>
            <a:spLocks noGrp="1"/>
          </p:cNvSpPr>
          <p:nvPr/>
        </p:nvSpPr>
        <p:spPr>
          <a:xfrm>
            <a:off x="4371975" y="28860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30" name="completed-label-9">
            <a:extLst>
              <a:ext uri="{FF2B5EF4-FFF2-40B4-BE49-F238E27FC236}">
                <a16:creationId xmlns="" xmlns:a16="http://schemas.microsoft.com/office/drawing/2014/main" id="{679A7BB8-1C0A-47F0-A2B8-B6EC74C42F83}"/>
              </a:ext>
            </a:extLst>
          </p:cNvPr>
          <p:cNvSpPr>
            <a:spLocks noGrp="1"/>
          </p:cNvSpPr>
          <p:nvPr/>
        </p:nvSpPr>
        <p:spPr>
          <a:xfrm>
            <a:off x="4791075" y="28670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Code Membership Verification</a:t>
            </a:r>
          </a:p>
        </p:txBody>
      </p:sp>
      <p:sp>
        <p:nvSpPr>
          <p:cNvPr id="31" name="completed-number-10">
            <a:extLst>
              <a:ext uri="{FF2B5EF4-FFF2-40B4-BE49-F238E27FC236}">
                <a16:creationId xmlns="" xmlns:a16="http://schemas.microsoft.com/office/drawing/2014/main" id="{F4596A92-8F19-4AFB-9328-D85B3D36A6B6}"/>
              </a:ext>
            </a:extLst>
          </p:cNvPr>
          <p:cNvSpPr>
            <a:spLocks noGrp="1"/>
          </p:cNvSpPr>
          <p:nvPr/>
        </p:nvSpPr>
        <p:spPr>
          <a:xfrm>
            <a:off x="4371975" y="33242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32" name="completed-label-10">
            <a:extLst>
              <a:ext uri="{FF2B5EF4-FFF2-40B4-BE49-F238E27FC236}">
                <a16:creationId xmlns="" xmlns:a16="http://schemas.microsoft.com/office/drawing/2014/main" id="{A9440D23-08D1-4AF4-8B4A-965AE9DECE36}"/>
              </a:ext>
            </a:extLst>
          </p:cNvPr>
          <p:cNvSpPr>
            <a:spLocks noGrp="1"/>
          </p:cNvSpPr>
          <p:nvPr/>
        </p:nvSpPr>
        <p:spPr>
          <a:xfrm>
            <a:off x="4791075" y="33051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Management System</a:t>
            </a:r>
          </a:p>
        </p:txBody>
      </p:sp>
      <p:sp>
        <p:nvSpPr>
          <p:cNvPr id="33" name="completed-number-11">
            <a:extLst>
              <a:ext uri="{FF2B5EF4-FFF2-40B4-BE49-F238E27FC236}">
                <a16:creationId xmlns="" xmlns:a16="http://schemas.microsoft.com/office/drawing/2014/main" id="{5DE31319-50DA-4C0F-BF50-932804E5E9E1}"/>
              </a:ext>
            </a:extLst>
          </p:cNvPr>
          <p:cNvSpPr>
            <a:spLocks noGrp="1"/>
          </p:cNvSpPr>
          <p:nvPr/>
        </p:nvSpPr>
        <p:spPr>
          <a:xfrm>
            <a:off x="4371975" y="37623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34" name="completed-label-11">
            <a:extLst>
              <a:ext uri="{FF2B5EF4-FFF2-40B4-BE49-F238E27FC236}">
                <a16:creationId xmlns="" xmlns:a16="http://schemas.microsoft.com/office/drawing/2014/main" id="{A528AD90-27DC-4530-AB0B-42F905DE8143}"/>
              </a:ext>
            </a:extLst>
          </p:cNvPr>
          <p:cNvSpPr>
            <a:spLocks noGrp="1"/>
          </p:cNvSpPr>
          <p:nvPr/>
        </p:nvSpPr>
        <p:spPr>
          <a:xfrm>
            <a:off x="4791075" y="37433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Code Certificate Verification</a:t>
            </a:r>
          </a:p>
        </p:txBody>
      </p:sp>
      <p:sp>
        <p:nvSpPr>
          <p:cNvPr id="35" name="completed-number-12">
            <a:extLst>
              <a:ext uri="{FF2B5EF4-FFF2-40B4-BE49-F238E27FC236}">
                <a16:creationId xmlns="" xmlns:a16="http://schemas.microsoft.com/office/drawing/2014/main" id="{1DA00CB3-AD50-4729-80C0-873BC6910B06}"/>
              </a:ext>
            </a:extLst>
          </p:cNvPr>
          <p:cNvSpPr>
            <a:spLocks noGrp="1"/>
          </p:cNvSpPr>
          <p:nvPr/>
        </p:nvSpPr>
        <p:spPr>
          <a:xfrm>
            <a:off x="4371975" y="42005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36" name="completed-label-12">
            <a:extLst>
              <a:ext uri="{FF2B5EF4-FFF2-40B4-BE49-F238E27FC236}">
                <a16:creationId xmlns="" xmlns:a16="http://schemas.microsoft.com/office/drawing/2014/main" id="{1B431BAD-8BF0-46F4-A5E9-AD9F3C4FDE40}"/>
              </a:ext>
            </a:extLst>
          </p:cNvPr>
          <p:cNvSpPr>
            <a:spLocks noGrp="1"/>
          </p:cNvSpPr>
          <p:nvPr/>
        </p:nvSpPr>
        <p:spPr>
          <a:xfrm>
            <a:off x="4791075" y="41814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TNR AI Assistant</a:t>
            </a:r>
          </a:p>
        </p:txBody>
      </p:sp>
      <p:sp>
        <p:nvSpPr>
          <p:cNvPr id="37" name="completed-number-13">
            <a:extLst>
              <a:ext uri="{FF2B5EF4-FFF2-40B4-BE49-F238E27FC236}">
                <a16:creationId xmlns="" xmlns:a16="http://schemas.microsoft.com/office/drawing/2014/main" id="{63169323-5BAA-40C9-AB3F-CD235B0BE903}"/>
              </a:ext>
            </a:extLst>
          </p:cNvPr>
          <p:cNvSpPr>
            <a:spLocks noGrp="1"/>
          </p:cNvSpPr>
          <p:nvPr/>
        </p:nvSpPr>
        <p:spPr>
          <a:xfrm>
            <a:off x="4371975" y="46386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38" name="completed-label-13">
            <a:extLst>
              <a:ext uri="{FF2B5EF4-FFF2-40B4-BE49-F238E27FC236}">
                <a16:creationId xmlns="" xmlns:a16="http://schemas.microsoft.com/office/drawing/2014/main" id="{4BD62FF7-5AD6-4F59-AE02-82A475BDB1BF}"/>
              </a:ext>
            </a:extLst>
          </p:cNvPr>
          <p:cNvSpPr>
            <a:spLocks noGrp="1"/>
          </p:cNvSpPr>
          <p:nvPr/>
        </p:nvSpPr>
        <p:spPr>
          <a:xfrm>
            <a:off x="4791075" y="46196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 Builder</a:t>
            </a:r>
          </a:p>
        </p:txBody>
      </p:sp>
      <p:sp>
        <p:nvSpPr>
          <p:cNvPr id="39" name="completed-number-14">
            <a:extLst>
              <a:ext uri="{FF2B5EF4-FFF2-40B4-BE49-F238E27FC236}">
                <a16:creationId xmlns="" xmlns:a16="http://schemas.microsoft.com/office/drawing/2014/main" id="{A110B2F5-4D40-4456-9452-F60D77BC6713}"/>
              </a:ext>
            </a:extLst>
          </p:cNvPr>
          <p:cNvSpPr>
            <a:spLocks noGrp="1"/>
          </p:cNvSpPr>
          <p:nvPr/>
        </p:nvSpPr>
        <p:spPr>
          <a:xfrm>
            <a:off x="4371975" y="50768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40" name="completed-label-14">
            <a:extLst>
              <a:ext uri="{FF2B5EF4-FFF2-40B4-BE49-F238E27FC236}">
                <a16:creationId xmlns="" xmlns:a16="http://schemas.microsoft.com/office/drawing/2014/main" id="{EEC1B2E2-846A-4E02-B018-C73461D6CC41}"/>
              </a:ext>
            </a:extLst>
          </p:cNvPr>
          <p:cNvSpPr>
            <a:spLocks noGrp="1"/>
          </p:cNvSpPr>
          <p:nvPr/>
        </p:nvSpPr>
        <p:spPr>
          <a:xfrm>
            <a:off x="4791075" y="50577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Announcements and Notifications</a:t>
            </a:r>
          </a:p>
        </p:txBody>
      </p:sp>
      <p:sp>
        <p:nvSpPr>
          <p:cNvPr id="41" name="completed-number-15">
            <a:extLst>
              <a:ext uri="{FF2B5EF4-FFF2-40B4-BE49-F238E27FC236}">
                <a16:creationId xmlns="" xmlns:a16="http://schemas.microsoft.com/office/drawing/2014/main" id="{4175D26A-B669-466D-9744-CD35E71CB125}"/>
              </a:ext>
            </a:extLst>
          </p:cNvPr>
          <p:cNvSpPr>
            <a:spLocks noGrp="1"/>
          </p:cNvSpPr>
          <p:nvPr/>
        </p:nvSpPr>
        <p:spPr>
          <a:xfrm>
            <a:off x="4371975" y="55149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42" name="completed-label-15">
            <a:extLst>
              <a:ext uri="{FF2B5EF4-FFF2-40B4-BE49-F238E27FC236}">
                <a16:creationId xmlns="" xmlns:a16="http://schemas.microsoft.com/office/drawing/2014/main" id="{09F03B98-43F9-4B55-AD30-435B621B92FA}"/>
              </a:ext>
            </a:extLst>
          </p:cNvPr>
          <p:cNvSpPr>
            <a:spLocks noGrp="1"/>
          </p:cNvSpPr>
          <p:nvPr/>
        </p:nvSpPr>
        <p:spPr>
          <a:xfrm>
            <a:off x="4791075" y="54959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Roundu Information and Statistics Database</a:t>
            </a:r>
          </a:p>
        </p:txBody>
      </p:sp>
      <p:sp>
        <p:nvSpPr>
          <p:cNvPr id="43" name="completed-column-header-2">
            <a:extLst>
              <a:ext uri="{FF2B5EF4-FFF2-40B4-BE49-F238E27FC236}">
                <a16:creationId xmlns="" xmlns:a16="http://schemas.microsoft.com/office/drawing/2014/main" id="{DD4C2E58-D16F-4149-AE95-3A60AC223E40}"/>
              </a:ext>
            </a:extLst>
          </p:cNvPr>
          <p:cNvSpPr>
            <a:spLocks noGrp="1"/>
          </p:cNvSpPr>
          <p:nvPr/>
        </p:nvSpPr>
        <p:spPr>
          <a:xfrm>
            <a:off x="8058150" y="20097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GOVERNANCE &amp; ELECTIONS</a:t>
            </a:r>
          </a:p>
        </p:txBody>
      </p:sp>
      <p:sp>
        <p:nvSpPr>
          <p:cNvPr id="44" name="completed-column-rule-2">
            <a:extLst>
              <a:ext uri="{FF2B5EF4-FFF2-40B4-BE49-F238E27FC236}">
                <a16:creationId xmlns="" xmlns:a16="http://schemas.microsoft.com/office/drawing/2014/main" id="{6E6BC5AE-220E-4C81-88C8-8A9BC577D3F9}"/>
              </a:ext>
            </a:extLst>
          </p:cNvPr>
          <p:cNvSpPr>
            <a:spLocks noGrp="1"/>
          </p:cNvSpPr>
          <p:nvPr/>
        </p:nvSpPr>
        <p:spPr>
          <a:xfrm>
            <a:off x="8058150" y="2276475"/>
            <a:ext cx="31623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45" name="completed-number-16">
            <a:extLst>
              <a:ext uri="{FF2B5EF4-FFF2-40B4-BE49-F238E27FC236}">
                <a16:creationId xmlns="" xmlns:a16="http://schemas.microsoft.com/office/drawing/2014/main" id="{FC55EB43-D209-49CF-A583-4F7478CE7D60}"/>
              </a:ext>
            </a:extLst>
          </p:cNvPr>
          <p:cNvSpPr>
            <a:spLocks noGrp="1"/>
          </p:cNvSpPr>
          <p:nvPr/>
        </p:nvSpPr>
        <p:spPr>
          <a:xfrm>
            <a:off x="8058150" y="24479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46" name="completed-label-16">
            <a:extLst>
              <a:ext uri="{FF2B5EF4-FFF2-40B4-BE49-F238E27FC236}">
                <a16:creationId xmlns="" xmlns:a16="http://schemas.microsoft.com/office/drawing/2014/main" id="{E2502B96-EDAD-413A-B9E7-EF8957230696}"/>
              </a:ext>
            </a:extLst>
          </p:cNvPr>
          <p:cNvSpPr>
            <a:spLocks noGrp="1"/>
          </p:cNvSpPr>
          <p:nvPr/>
        </p:nvSpPr>
        <p:spPr>
          <a:xfrm>
            <a:off x="8477250" y="24288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Management System</a:t>
            </a:r>
          </a:p>
        </p:txBody>
      </p:sp>
      <p:sp>
        <p:nvSpPr>
          <p:cNvPr id="47" name="completed-number-17">
            <a:extLst>
              <a:ext uri="{FF2B5EF4-FFF2-40B4-BE49-F238E27FC236}">
                <a16:creationId xmlns="" xmlns:a16="http://schemas.microsoft.com/office/drawing/2014/main" id="{5008E0B1-155A-46A7-AAFD-62A8633E7285}"/>
              </a:ext>
            </a:extLst>
          </p:cNvPr>
          <p:cNvSpPr>
            <a:spLocks noGrp="1"/>
          </p:cNvSpPr>
          <p:nvPr/>
        </p:nvSpPr>
        <p:spPr>
          <a:xfrm>
            <a:off x="8058150" y="28860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48" name="completed-label-17">
            <a:extLst>
              <a:ext uri="{FF2B5EF4-FFF2-40B4-BE49-F238E27FC236}">
                <a16:creationId xmlns="" xmlns:a16="http://schemas.microsoft.com/office/drawing/2014/main" id="{295006C5-BBFD-400B-9867-AA83697819EC}"/>
              </a:ext>
            </a:extLst>
          </p:cNvPr>
          <p:cNvSpPr>
            <a:spLocks noGrp="1"/>
          </p:cNvSpPr>
          <p:nvPr/>
        </p:nvSpPr>
        <p:spPr>
          <a:xfrm>
            <a:off x="8477250" y="28670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Online Voting Portal</a:t>
            </a:r>
          </a:p>
        </p:txBody>
      </p:sp>
      <p:sp>
        <p:nvSpPr>
          <p:cNvPr id="49" name="completed-number-18">
            <a:extLst>
              <a:ext uri="{FF2B5EF4-FFF2-40B4-BE49-F238E27FC236}">
                <a16:creationId xmlns="" xmlns:a16="http://schemas.microsoft.com/office/drawing/2014/main" id="{664421E6-E79F-4879-BDF7-F524915CAE8B}"/>
              </a:ext>
            </a:extLst>
          </p:cNvPr>
          <p:cNvSpPr>
            <a:spLocks noGrp="1"/>
          </p:cNvSpPr>
          <p:nvPr/>
        </p:nvSpPr>
        <p:spPr>
          <a:xfrm>
            <a:off x="8058150" y="33242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50" name="completed-label-18">
            <a:extLst>
              <a:ext uri="{FF2B5EF4-FFF2-40B4-BE49-F238E27FC236}">
                <a16:creationId xmlns="" xmlns:a16="http://schemas.microsoft.com/office/drawing/2014/main" id="{FF7C5564-9927-434D-8647-3913B9008921}"/>
              </a:ext>
            </a:extLst>
          </p:cNvPr>
          <p:cNvSpPr>
            <a:spLocks noGrp="1"/>
          </p:cNvSpPr>
          <p:nvPr/>
        </p:nvSpPr>
        <p:spPr>
          <a:xfrm>
            <a:off x="8477250" y="33051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Candidate Management System</a:t>
            </a:r>
          </a:p>
        </p:txBody>
      </p:sp>
      <p:sp>
        <p:nvSpPr>
          <p:cNvPr id="51" name="completed-number-19">
            <a:extLst>
              <a:ext uri="{FF2B5EF4-FFF2-40B4-BE49-F238E27FC236}">
                <a16:creationId xmlns="" xmlns:a16="http://schemas.microsoft.com/office/drawing/2014/main" id="{3F5940B2-BF84-4E67-AC26-3B7ECBC8C9D7}"/>
              </a:ext>
            </a:extLst>
          </p:cNvPr>
          <p:cNvSpPr>
            <a:spLocks noGrp="1"/>
          </p:cNvSpPr>
          <p:nvPr/>
        </p:nvSpPr>
        <p:spPr>
          <a:xfrm>
            <a:off x="8058150" y="37623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52" name="completed-label-19">
            <a:extLst>
              <a:ext uri="{FF2B5EF4-FFF2-40B4-BE49-F238E27FC236}">
                <a16:creationId xmlns="" xmlns:a16="http://schemas.microsoft.com/office/drawing/2014/main" id="{D90B0E37-7314-4216-9D20-0D2BAB5FE466}"/>
              </a:ext>
            </a:extLst>
          </p:cNvPr>
          <p:cNvSpPr>
            <a:spLocks noGrp="1"/>
          </p:cNvSpPr>
          <p:nvPr/>
        </p:nvSpPr>
        <p:spPr>
          <a:xfrm>
            <a:off x="8477250" y="37433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Results and Reporting</a:t>
            </a:r>
          </a:p>
        </p:txBody>
      </p:sp>
      <p:sp>
        <p:nvSpPr>
          <p:cNvPr id="53" name="completed-number-20">
            <a:extLst>
              <a:ext uri="{FF2B5EF4-FFF2-40B4-BE49-F238E27FC236}">
                <a16:creationId xmlns="" xmlns:a16="http://schemas.microsoft.com/office/drawing/2014/main" id="{C6A4A18E-12FC-4636-AE4B-328371A07078}"/>
              </a:ext>
            </a:extLst>
          </p:cNvPr>
          <p:cNvSpPr>
            <a:spLocks noGrp="1"/>
          </p:cNvSpPr>
          <p:nvPr/>
        </p:nvSpPr>
        <p:spPr>
          <a:xfrm>
            <a:off x="8058150" y="42005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54" name="completed-label-20">
            <a:extLst>
              <a:ext uri="{FF2B5EF4-FFF2-40B4-BE49-F238E27FC236}">
                <a16:creationId xmlns="" xmlns:a16="http://schemas.microsoft.com/office/drawing/2014/main" id="{5BB86572-11C5-41B9-BC32-A94ECCF8C3BC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55" name="completed-number-21">
            <a:extLst>
              <a:ext uri="{FF2B5EF4-FFF2-40B4-BE49-F238E27FC236}">
                <a16:creationId xmlns="" xmlns:a16="http://schemas.microsoft.com/office/drawing/2014/main" id="{04320DA2-45AD-4D6A-8559-A71344DF63B3}"/>
              </a:ext>
            </a:extLst>
          </p:cNvPr>
          <p:cNvSpPr>
            <a:spLocks noGrp="1"/>
          </p:cNvSpPr>
          <p:nvPr/>
        </p:nvSpPr>
        <p:spPr>
          <a:xfrm>
            <a:off x="8058150" y="46386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56" name="completed-label-21">
            <a:extLst>
              <a:ext uri="{FF2B5EF4-FFF2-40B4-BE49-F238E27FC236}">
                <a16:creationId xmlns="" xmlns:a16="http://schemas.microsoft.com/office/drawing/2014/main" id="{B33C6DDA-2C00-4CAA-B06C-382C8350EB4E}"/>
              </a:ext>
            </a:extLst>
          </p:cNvPr>
          <p:cNvSpPr>
            <a:spLocks noGrp="1"/>
          </p:cNvSpPr>
          <p:nvPr/>
        </p:nvSpPr>
        <p:spPr>
          <a:xfrm>
            <a:off x="8477250" y="46196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CEC Member Portal</a:t>
            </a:r>
          </a:p>
        </p:txBody>
      </p:sp>
      <p:sp>
        <p:nvSpPr>
          <p:cNvPr id="57" name="completed-number-22">
            <a:extLst>
              <a:ext uri="{FF2B5EF4-FFF2-40B4-BE49-F238E27FC236}">
                <a16:creationId xmlns="" xmlns:a16="http://schemas.microsoft.com/office/drawing/2014/main" id="{9736DB7A-4F57-43F9-AA0C-E70FB8F836F5}"/>
              </a:ext>
            </a:extLst>
          </p:cNvPr>
          <p:cNvSpPr>
            <a:spLocks noGrp="1"/>
          </p:cNvSpPr>
          <p:nvPr/>
        </p:nvSpPr>
        <p:spPr>
          <a:xfrm>
            <a:off x="8058150" y="50768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  <p:sp>
        <p:nvSpPr>
          <p:cNvPr id="58" name="completed-label-22">
            <a:extLst>
              <a:ext uri="{FF2B5EF4-FFF2-40B4-BE49-F238E27FC236}">
                <a16:creationId xmlns="" xmlns:a16="http://schemas.microsoft.com/office/drawing/2014/main" id="{A3C72B67-917A-4925-A498-DC9C4ADD31B7}"/>
              </a:ext>
            </a:extLst>
          </p:cNvPr>
          <p:cNvSpPr>
            <a:spLocks noGrp="1"/>
          </p:cNvSpPr>
          <p:nvPr/>
        </p:nvSpPr>
        <p:spPr>
          <a:xfrm>
            <a:off x="8477250" y="505777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Applications and Approval System</a:t>
            </a:r>
          </a:p>
        </p:txBody>
      </p:sp>
      <p:sp>
        <p:nvSpPr>
          <p:cNvPr id="59" name="completed-number-23">
            <a:extLst>
              <a:ext uri="{FF2B5EF4-FFF2-40B4-BE49-F238E27FC236}">
                <a16:creationId xmlns="" xmlns:a16="http://schemas.microsoft.com/office/drawing/2014/main" id="{8CA66D56-DA74-44B5-A675-F16BDF9AA8B4}"/>
              </a:ext>
            </a:extLst>
          </p:cNvPr>
          <p:cNvSpPr>
            <a:spLocks noGrp="1"/>
          </p:cNvSpPr>
          <p:nvPr/>
        </p:nvSpPr>
        <p:spPr>
          <a:xfrm>
            <a:off x="8058150" y="55149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60" name="completed-label-23">
            <a:extLst>
              <a:ext uri="{FF2B5EF4-FFF2-40B4-BE49-F238E27FC236}">
                <a16:creationId xmlns="" xmlns:a16="http://schemas.microsoft.com/office/drawing/2014/main" id="{A1FB7302-06AE-494B-BE61-5C87CE433ACB}"/>
              </a:ext>
            </a:extLst>
          </p:cNvPr>
          <p:cNvSpPr>
            <a:spLocks noGrp="1"/>
          </p:cNvSpPr>
          <p:nvPr/>
        </p:nvSpPr>
        <p:spPr>
          <a:xfrm>
            <a:off x="8477250" y="5495925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Executive and Organizational Management</a:t>
            </a:r>
          </a:p>
        </p:txBody>
      </p:sp>
      <p:sp>
        <p:nvSpPr>
          <p:cNvPr id="61" name="footer-rule-4">
            <a:extLst>
              <a:ext uri="{FF2B5EF4-FFF2-40B4-BE49-F238E27FC236}">
                <a16:creationId xmlns="" xmlns:a16="http://schemas.microsoft.com/office/drawing/2014/main" id="{2A9C60E7-873A-40AD-814E-E0B4B6A7AEE9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62" name="footer-label-4">
            <a:extLst>
              <a:ext uri="{FF2B5EF4-FFF2-40B4-BE49-F238E27FC236}">
                <a16:creationId xmlns="" xmlns:a16="http://schemas.microsoft.com/office/drawing/2014/main" id="{617FB0C1-A269-4036-8CBA-0D226639A37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63" name="footer-page-4">
            <a:extLst>
              <a:ext uri="{FF2B5EF4-FFF2-40B4-BE49-F238E27FC236}">
                <a16:creationId xmlns="" xmlns:a16="http://schemas.microsoft.com/office/drawing/2014/main" id="{0DBCFEF3-D171-4A80-BC3E-A2762A1DA967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1346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4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6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2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8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86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4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22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4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8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76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94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12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4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3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4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48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4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66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4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84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402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4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8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20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4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38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4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56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4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474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4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492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4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10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4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rand-gold-square">
            <a:extLst>
              <a:ext uri="{FF2B5EF4-FFF2-40B4-BE49-F238E27FC236}">
                <a16:creationId xmlns="" xmlns:a16="http://schemas.microsoft.com/office/drawing/2014/main" id="{9128C377-2BD8-4D6C-AF09-47275364266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D8EAF4C8-5632-4198-AB2D-367D546AD7E5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D46C327B-6213-4459-B1C1-051593F3B2A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Membership becomes one clear digital journey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="" xmlns:a16="http://schemas.microsoft.com/office/drawing/2014/main" id="{98773DB6-C98E-498A-ADF3-BE646FD2FE52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visible path from first registration to full access.</a:t>
            </a:r>
          </a:p>
        </p:txBody>
      </p:sp>
      <p:sp>
        <p:nvSpPr>
          <p:cNvPr id="5" name="journey-track">
            <a:extLst>
              <a:ext uri="{FF2B5EF4-FFF2-40B4-BE49-F238E27FC236}">
                <a16:creationId xmlns="" xmlns:a16="http://schemas.microsoft.com/office/drawing/2014/main" id="{775BBB16-6D44-4956-916B-A3CE992091ED}"/>
              </a:ext>
            </a:extLst>
          </p:cNvPr>
          <p:cNvSpPr>
            <a:spLocks noGrp="1"/>
          </p:cNvSpPr>
          <p:nvPr/>
        </p:nvSpPr>
        <p:spPr>
          <a:xfrm>
            <a:off x="1066800" y="3476625"/>
            <a:ext cx="100584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6" name="journey-arrow-0">
            <a:extLst>
              <a:ext uri="{FF2B5EF4-FFF2-40B4-BE49-F238E27FC236}">
                <a16:creationId xmlns="" xmlns:a16="http://schemas.microsoft.com/office/drawing/2014/main" id="{158C37C2-E811-4783-B956-11D7E77AF259}"/>
              </a:ext>
            </a:extLst>
          </p:cNvPr>
          <p:cNvSpPr>
            <a:spLocks noGrp="1"/>
          </p:cNvSpPr>
          <p:nvPr/>
        </p:nvSpPr>
        <p:spPr>
          <a:xfrm>
            <a:off x="24003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7" name="journey-arrow-1">
            <a:extLst>
              <a:ext uri="{FF2B5EF4-FFF2-40B4-BE49-F238E27FC236}">
                <a16:creationId xmlns="" xmlns:a16="http://schemas.microsoft.com/office/drawing/2014/main" id="{3EB0D77A-E7EF-4787-A215-E13EA2936276}"/>
              </a:ext>
            </a:extLst>
          </p:cNvPr>
          <p:cNvSpPr>
            <a:spLocks noGrp="1"/>
          </p:cNvSpPr>
          <p:nvPr/>
        </p:nvSpPr>
        <p:spPr>
          <a:xfrm>
            <a:off x="428625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8" name="journey-arrow-2">
            <a:extLst>
              <a:ext uri="{FF2B5EF4-FFF2-40B4-BE49-F238E27FC236}">
                <a16:creationId xmlns="" xmlns:a16="http://schemas.microsoft.com/office/drawing/2014/main" id="{61C65614-517D-47ED-80BC-C7D71E7ADD6E}"/>
              </a:ext>
            </a:extLst>
          </p:cNvPr>
          <p:cNvSpPr>
            <a:spLocks noGrp="1"/>
          </p:cNvSpPr>
          <p:nvPr/>
        </p:nvSpPr>
        <p:spPr>
          <a:xfrm>
            <a:off x="61722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9" name="journey-arrow-3">
            <a:extLst>
              <a:ext uri="{FF2B5EF4-FFF2-40B4-BE49-F238E27FC236}">
                <a16:creationId xmlns="" xmlns:a16="http://schemas.microsoft.com/office/drawing/2014/main" id="{469B78B1-DDBD-4F2A-9B82-D6437ADB9BE0}"/>
              </a:ext>
            </a:extLst>
          </p:cNvPr>
          <p:cNvSpPr>
            <a:spLocks noGrp="1"/>
          </p:cNvSpPr>
          <p:nvPr/>
        </p:nvSpPr>
        <p:spPr>
          <a:xfrm>
            <a:off x="805815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0" name="journey-arrow-4">
            <a:extLst>
              <a:ext uri="{FF2B5EF4-FFF2-40B4-BE49-F238E27FC236}">
                <a16:creationId xmlns="" xmlns:a16="http://schemas.microsoft.com/office/drawing/2014/main" id="{41C1A5F3-1F36-4D75-A9E5-BD2CC10E1806}"/>
              </a:ext>
            </a:extLst>
          </p:cNvPr>
          <p:cNvSpPr>
            <a:spLocks noGrp="1"/>
          </p:cNvSpPr>
          <p:nvPr/>
        </p:nvSpPr>
        <p:spPr>
          <a:xfrm>
            <a:off x="9944100" y="3381375"/>
            <a:ext cx="190500" cy="190500"/>
          </a:xfrm>
          <a:prstGeom prst="chevron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11" name="journey-step-0">
            <a:extLst>
              <a:ext uri="{FF2B5EF4-FFF2-40B4-BE49-F238E27FC236}">
                <a16:creationId xmlns="" xmlns:a16="http://schemas.microsoft.com/office/drawing/2014/main" id="{EF16E9C0-204E-48E5-BA20-8E26736B0BFA}"/>
              </a:ext>
            </a:extLst>
          </p:cNvPr>
          <p:cNvSpPr>
            <a:spLocks noGrp="1"/>
          </p:cNvSpPr>
          <p:nvPr/>
        </p:nvSpPr>
        <p:spPr>
          <a:xfrm>
            <a:off x="9525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journey-node-0">
            <a:extLst>
              <a:ext uri="{FF2B5EF4-FFF2-40B4-BE49-F238E27FC236}">
                <a16:creationId xmlns="" xmlns:a16="http://schemas.microsoft.com/office/drawing/2014/main" id="{F12F5B49-5994-45F5-8933-92F908CF3FCE}"/>
              </a:ext>
            </a:extLst>
          </p:cNvPr>
          <p:cNvSpPr>
            <a:spLocks noGrp="1"/>
          </p:cNvSpPr>
          <p:nvPr/>
        </p:nvSpPr>
        <p:spPr>
          <a:xfrm>
            <a:off x="9810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2f910b93b06c4873"/>
              </a:ext>
            </a:extLst>
          </a:blip>
          <a:stretch/>
        </p:blipFill>
        <p:spPr>
          <a:xfrm>
            <a:off x="1190625" y="3238500"/>
            <a:ext cx="257175" cy="257175"/>
          </a:xfrm>
          <a:prstGeom prst="rect">
            <a:avLst/>
          </a:prstGeom>
        </p:spPr>
      </p:pic>
      <p:sp>
        <p:nvSpPr>
          <p:cNvPr id="14" name="journey-label-0">
            <a:extLst>
              <a:ext uri="{FF2B5EF4-FFF2-40B4-BE49-F238E27FC236}">
                <a16:creationId xmlns="" xmlns:a16="http://schemas.microsoft.com/office/drawing/2014/main" id="{7A8AC66D-2883-49FA-BDB5-B43339812890}"/>
              </a:ext>
            </a:extLst>
          </p:cNvPr>
          <p:cNvSpPr>
            <a:spLocks noGrp="1"/>
          </p:cNvSpPr>
          <p:nvPr/>
        </p:nvSpPr>
        <p:spPr>
          <a:xfrm>
            <a:off x="5524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Registration</a:t>
            </a:r>
          </a:p>
        </p:txBody>
      </p:sp>
      <p:sp>
        <p:nvSpPr>
          <p:cNvPr id="15" name="journey-desc-0">
            <a:extLst>
              <a:ext uri="{FF2B5EF4-FFF2-40B4-BE49-F238E27FC236}">
                <a16:creationId xmlns="" xmlns:a16="http://schemas.microsoft.com/office/drawing/2014/main" id="{6A57733E-3F58-40EF-A26D-26289BB8A9F9}"/>
              </a:ext>
            </a:extLst>
          </p:cNvPr>
          <p:cNvSpPr>
            <a:spLocks noGrp="1"/>
          </p:cNvSpPr>
          <p:nvPr/>
        </p:nvSpPr>
        <p:spPr>
          <a:xfrm>
            <a:off x="5524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6" name="journey-step-1">
            <a:extLst>
              <a:ext uri="{FF2B5EF4-FFF2-40B4-BE49-F238E27FC236}">
                <a16:creationId xmlns="" xmlns:a16="http://schemas.microsoft.com/office/drawing/2014/main" id="{D7DDBECC-5C3D-42F4-94D0-D536DA29B778}"/>
              </a:ext>
            </a:extLst>
          </p:cNvPr>
          <p:cNvSpPr>
            <a:spLocks noGrp="1"/>
          </p:cNvSpPr>
          <p:nvPr/>
        </p:nvSpPr>
        <p:spPr>
          <a:xfrm>
            <a:off x="28384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journey-node-1">
            <a:extLst>
              <a:ext uri="{FF2B5EF4-FFF2-40B4-BE49-F238E27FC236}">
                <a16:creationId xmlns="" xmlns:a16="http://schemas.microsoft.com/office/drawing/2014/main" id="{06465C0D-D031-4CDB-B70F-645BC8702F57}"/>
              </a:ext>
            </a:extLst>
          </p:cNvPr>
          <p:cNvSpPr>
            <a:spLocks noGrp="1"/>
          </p:cNvSpPr>
          <p:nvPr/>
        </p:nvSpPr>
        <p:spPr>
          <a:xfrm>
            <a:off x="286702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488888c38faf4a71"/>
              </a:ext>
            </a:extLst>
          </a:blip>
          <a:stretch/>
        </p:blipFill>
        <p:spPr>
          <a:xfrm>
            <a:off x="3076575" y="3238500"/>
            <a:ext cx="257175" cy="257175"/>
          </a:xfrm>
          <a:prstGeom prst="rect">
            <a:avLst/>
          </a:prstGeom>
        </p:spPr>
      </p:pic>
      <p:sp>
        <p:nvSpPr>
          <p:cNvPr id="19" name="journey-label-1">
            <a:extLst>
              <a:ext uri="{FF2B5EF4-FFF2-40B4-BE49-F238E27FC236}">
                <a16:creationId xmlns="" xmlns:a16="http://schemas.microsoft.com/office/drawing/2014/main" id="{669D77B3-8072-43A4-941D-34E54C95F459}"/>
              </a:ext>
            </a:extLst>
          </p:cNvPr>
          <p:cNvSpPr>
            <a:spLocks noGrp="1"/>
          </p:cNvSpPr>
          <p:nvPr/>
        </p:nvSpPr>
        <p:spPr>
          <a:xfrm>
            <a:off x="24384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Completion</a:t>
            </a:r>
          </a:p>
        </p:txBody>
      </p:sp>
      <p:sp>
        <p:nvSpPr>
          <p:cNvPr id="20" name="journey-desc-1">
            <a:extLst>
              <a:ext uri="{FF2B5EF4-FFF2-40B4-BE49-F238E27FC236}">
                <a16:creationId xmlns="" xmlns:a16="http://schemas.microsoft.com/office/drawing/2014/main" id="{324BAA1B-F6A1-4701-9F61-4C83710D5EEA}"/>
              </a:ext>
            </a:extLst>
          </p:cNvPr>
          <p:cNvSpPr>
            <a:spLocks noGrp="1"/>
          </p:cNvSpPr>
          <p:nvPr/>
        </p:nvSpPr>
        <p:spPr>
          <a:xfrm>
            <a:off x="24384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Complete details</a:t>
            </a:r>
          </a:p>
        </p:txBody>
      </p:sp>
      <p:sp>
        <p:nvSpPr>
          <p:cNvPr id="21" name="journey-step-2">
            <a:extLst>
              <a:ext uri="{FF2B5EF4-FFF2-40B4-BE49-F238E27FC236}">
                <a16:creationId xmlns="" xmlns:a16="http://schemas.microsoft.com/office/drawing/2014/main" id="{944A667D-373C-48DB-9E48-213D453F627B}"/>
              </a:ext>
            </a:extLst>
          </p:cNvPr>
          <p:cNvSpPr>
            <a:spLocks noGrp="1"/>
          </p:cNvSpPr>
          <p:nvPr/>
        </p:nvSpPr>
        <p:spPr>
          <a:xfrm>
            <a:off x="47244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journey-node-2">
            <a:extLst>
              <a:ext uri="{FF2B5EF4-FFF2-40B4-BE49-F238E27FC236}">
                <a16:creationId xmlns="" xmlns:a16="http://schemas.microsoft.com/office/drawing/2014/main" id="{0B016B1E-3298-456F-9461-894BC18F8F8F}"/>
              </a:ext>
            </a:extLst>
          </p:cNvPr>
          <p:cNvSpPr>
            <a:spLocks noGrp="1"/>
          </p:cNvSpPr>
          <p:nvPr/>
        </p:nvSpPr>
        <p:spPr>
          <a:xfrm>
            <a:off x="47529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6e1cca7520f0420a"/>
              </a:ext>
            </a:extLst>
          </a:blip>
          <a:stretch/>
        </p:blipFill>
        <p:spPr>
          <a:xfrm>
            <a:off x="4962525" y="3238500"/>
            <a:ext cx="257175" cy="257175"/>
          </a:xfrm>
          <a:prstGeom prst="rect">
            <a:avLst/>
          </a:prstGeom>
        </p:spPr>
      </p:pic>
      <p:sp>
        <p:nvSpPr>
          <p:cNvPr id="24" name="journey-label-2">
            <a:extLst>
              <a:ext uri="{FF2B5EF4-FFF2-40B4-BE49-F238E27FC236}">
                <a16:creationId xmlns="" xmlns:a16="http://schemas.microsoft.com/office/drawing/2014/main" id="{9C33D0E1-0692-433F-A5DF-051FC8A3AAF5}"/>
              </a:ext>
            </a:extLst>
          </p:cNvPr>
          <p:cNvSpPr>
            <a:spLocks noGrp="1"/>
          </p:cNvSpPr>
          <p:nvPr/>
        </p:nvSpPr>
        <p:spPr>
          <a:xfrm>
            <a:off x="43243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Admin Review</a:t>
            </a:r>
          </a:p>
        </p:txBody>
      </p:sp>
      <p:sp>
        <p:nvSpPr>
          <p:cNvPr id="25" name="journey-desc-2">
            <a:extLst>
              <a:ext uri="{FF2B5EF4-FFF2-40B4-BE49-F238E27FC236}">
                <a16:creationId xmlns="" xmlns:a16="http://schemas.microsoft.com/office/drawing/2014/main" id="{148C7D60-AF9F-4E20-81AA-33924AD00294}"/>
              </a:ext>
            </a:extLst>
          </p:cNvPr>
          <p:cNvSpPr>
            <a:spLocks noGrp="1"/>
          </p:cNvSpPr>
          <p:nvPr/>
        </p:nvSpPr>
        <p:spPr>
          <a:xfrm>
            <a:off x="43243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Records checked</a:t>
            </a:r>
          </a:p>
        </p:txBody>
      </p:sp>
      <p:sp>
        <p:nvSpPr>
          <p:cNvPr id="26" name="journey-step-3">
            <a:extLst>
              <a:ext uri="{FF2B5EF4-FFF2-40B4-BE49-F238E27FC236}">
                <a16:creationId xmlns="" xmlns:a16="http://schemas.microsoft.com/office/drawing/2014/main" id="{4564D7DE-835B-4FE9-BF02-05781FB55E2B}"/>
              </a:ext>
            </a:extLst>
          </p:cNvPr>
          <p:cNvSpPr>
            <a:spLocks noGrp="1"/>
          </p:cNvSpPr>
          <p:nvPr/>
        </p:nvSpPr>
        <p:spPr>
          <a:xfrm>
            <a:off x="66103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journey-node-3">
            <a:extLst>
              <a:ext uri="{FF2B5EF4-FFF2-40B4-BE49-F238E27FC236}">
                <a16:creationId xmlns="" xmlns:a16="http://schemas.microsoft.com/office/drawing/2014/main" id="{30884899-029E-4D7B-8EC0-3CA58B44303E}"/>
              </a:ext>
            </a:extLst>
          </p:cNvPr>
          <p:cNvSpPr>
            <a:spLocks noGrp="1"/>
          </p:cNvSpPr>
          <p:nvPr/>
        </p:nvSpPr>
        <p:spPr>
          <a:xfrm>
            <a:off x="663892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fd073cfe4d4843b4"/>
              </a:ext>
            </a:extLst>
          </a:blip>
          <a:stretch/>
        </p:blipFill>
        <p:spPr>
          <a:xfrm>
            <a:off x="6848475" y="3238500"/>
            <a:ext cx="257175" cy="257175"/>
          </a:xfrm>
          <a:prstGeom prst="rect">
            <a:avLst/>
          </a:prstGeom>
        </p:spPr>
      </p:pic>
      <p:sp>
        <p:nvSpPr>
          <p:cNvPr id="29" name="journey-label-3">
            <a:extLst>
              <a:ext uri="{FF2B5EF4-FFF2-40B4-BE49-F238E27FC236}">
                <a16:creationId xmlns="" xmlns:a16="http://schemas.microsoft.com/office/drawing/2014/main" id="{9E8A84CF-D24F-45DB-8F75-366C1E2B80B9}"/>
              </a:ext>
            </a:extLst>
          </p:cNvPr>
          <p:cNvSpPr>
            <a:spLocks noGrp="1"/>
          </p:cNvSpPr>
          <p:nvPr/>
        </p:nvSpPr>
        <p:spPr>
          <a:xfrm>
            <a:off x="62103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Approval</a:t>
            </a:r>
          </a:p>
        </p:txBody>
      </p:sp>
      <p:sp>
        <p:nvSpPr>
          <p:cNvPr id="30" name="journey-desc-3">
            <a:extLst>
              <a:ext uri="{FF2B5EF4-FFF2-40B4-BE49-F238E27FC236}">
                <a16:creationId xmlns="" xmlns:a16="http://schemas.microsoft.com/office/drawing/2014/main" id="{58C01E04-4EAE-4E60-9A45-2BC507894FEF}"/>
              </a:ext>
            </a:extLst>
          </p:cNvPr>
          <p:cNvSpPr>
            <a:spLocks noGrp="1"/>
          </p:cNvSpPr>
          <p:nvPr/>
        </p:nvSpPr>
        <p:spPr>
          <a:xfrm>
            <a:off x="62103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Membership confirmed</a:t>
            </a:r>
          </a:p>
        </p:txBody>
      </p:sp>
      <p:sp>
        <p:nvSpPr>
          <p:cNvPr id="31" name="journey-step-4">
            <a:extLst>
              <a:ext uri="{FF2B5EF4-FFF2-40B4-BE49-F238E27FC236}">
                <a16:creationId xmlns="" xmlns:a16="http://schemas.microsoft.com/office/drawing/2014/main" id="{CAEDBD14-EEBF-41B1-8E73-50AC2C53578D}"/>
              </a:ext>
            </a:extLst>
          </p:cNvPr>
          <p:cNvSpPr>
            <a:spLocks noGrp="1"/>
          </p:cNvSpPr>
          <p:nvPr/>
        </p:nvSpPr>
        <p:spPr>
          <a:xfrm>
            <a:off x="849630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journey-node-4">
            <a:extLst>
              <a:ext uri="{FF2B5EF4-FFF2-40B4-BE49-F238E27FC236}">
                <a16:creationId xmlns="" xmlns:a16="http://schemas.microsoft.com/office/drawing/2014/main" id="{40EF6C50-5FB6-49C3-9374-D78F82A3D07D}"/>
              </a:ext>
            </a:extLst>
          </p:cNvPr>
          <p:cNvSpPr>
            <a:spLocks noGrp="1"/>
          </p:cNvSpPr>
          <p:nvPr/>
        </p:nvSpPr>
        <p:spPr>
          <a:xfrm>
            <a:off x="8524875" y="3028950"/>
            <a:ext cx="666750" cy="6667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50c0853cf8c2453c"/>
              </a:ext>
            </a:extLst>
          </a:blip>
          <a:stretch/>
        </p:blipFill>
        <p:spPr>
          <a:xfrm>
            <a:off x="8734425" y="3238500"/>
            <a:ext cx="257175" cy="257175"/>
          </a:xfrm>
          <a:prstGeom prst="rect">
            <a:avLst/>
          </a:prstGeom>
        </p:spPr>
      </p:pic>
      <p:sp>
        <p:nvSpPr>
          <p:cNvPr id="34" name="journey-label-4">
            <a:extLst>
              <a:ext uri="{FF2B5EF4-FFF2-40B4-BE49-F238E27FC236}">
                <a16:creationId xmlns="" xmlns:a16="http://schemas.microsoft.com/office/drawing/2014/main" id="{29365D10-90C4-4982-8050-0AD253423352}"/>
              </a:ext>
            </a:extLst>
          </p:cNvPr>
          <p:cNvSpPr>
            <a:spLocks noGrp="1"/>
          </p:cNvSpPr>
          <p:nvPr/>
        </p:nvSpPr>
        <p:spPr>
          <a:xfrm>
            <a:off x="809625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35" name="journey-desc-4">
            <a:extLst>
              <a:ext uri="{FF2B5EF4-FFF2-40B4-BE49-F238E27FC236}">
                <a16:creationId xmlns="" xmlns:a16="http://schemas.microsoft.com/office/drawing/2014/main" id="{A6F31BD4-2C32-41B3-B7BA-DD95C9221092}"/>
              </a:ext>
            </a:extLst>
          </p:cNvPr>
          <p:cNvSpPr>
            <a:spLocks noGrp="1"/>
          </p:cNvSpPr>
          <p:nvPr/>
        </p:nvSpPr>
        <p:spPr>
          <a:xfrm>
            <a:off x="809625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Verified identity</a:t>
            </a:r>
          </a:p>
        </p:txBody>
      </p:sp>
      <p:sp>
        <p:nvSpPr>
          <p:cNvPr id="36" name="journey-step-5">
            <a:extLst>
              <a:ext uri="{FF2B5EF4-FFF2-40B4-BE49-F238E27FC236}">
                <a16:creationId xmlns="" xmlns:a16="http://schemas.microsoft.com/office/drawing/2014/main" id="{6DF2DA11-3606-4E14-926E-C51EF6D62D24}"/>
              </a:ext>
            </a:extLst>
          </p:cNvPr>
          <p:cNvSpPr>
            <a:spLocks noGrp="1"/>
          </p:cNvSpPr>
          <p:nvPr/>
        </p:nvSpPr>
        <p:spPr>
          <a:xfrm>
            <a:off x="10382250" y="222885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journey-node-5">
            <a:extLst>
              <a:ext uri="{FF2B5EF4-FFF2-40B4-BE49-F238E27FC236}">
                <a16:creationId xmlns="" xmlns:a16="http://schemas.microsoft.com/office/drawing/2014/main" id="{116EC316-45BB-4280-A507-E42721F0DF60}"/>
              </a:ext>
            </a:extLst>
          </p:cNvPr>
          <p:cNvSpPr>
            <a:spLocks noGrp="1"/>
          </p:cNvSpPr>
          <p:nvPr/>
        </p:nvSpPr>
        <p:spPr>
          <a:xfrm>
            <a:off x="10410825" y="3028950"/>
            <a:ext cx="666750" cy="666750"/>
          </a:xfrm>
          <a:prstGeom prst="ellipse">
            <a:avLst/>
          </a:prstGeom>
          <a:solidFill>
            <a:srgbClr val="0D3B2E"/>
          </a:solidFill>
          <a:ln w="28575">
            <a:solidFill>
              <a:srgbClr val="C6A1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eb29d1841eb64e77"/>
              </a:ext>
            </a:extLst>
          </a:blip>
          <a:stretch/>
        </p:blipFill>
        <p:spPr>
          <a:xfrm>
            <a:off x="10620375" y="3238500"/>
            <a:ext cx="257175" cy="257175"/>
          </a:xfrm>
          <a:prstGeom prst="rect">
            <a:avLst/>
          </a:prstGeom>
        </p:spPr>
      </p:pic>
      <p:sp>
        <p:nvSpPr>
          <p:cNvPr id="39" name="journey-label-5">
            <a:extLst>
              <a:ext uri="{FF2B5EF4-FFF2-40B4-BE49-F238E27FC236}">
                <a16:creationId xmlns="" xmlns:a16="http://schemas.microsoft.com/office/drawing/2014/main" id="{8D3CA846-5636-4C00-8A88-949DC053B2B8}"/>
              </a:ext>
            </a:extLst>
          </p:cNvPr>
          <p:cNvSpPr>
            <a:spLocks noGrp="1"/>
          </p:cNvSpPr>
          <p:nvPr/>
        </p:nvSpPr>
        <p:spPr>
          <a:xfrm>
            <a:off x="9982200" y="3943350"/>
            <a:ext cx="152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40" name="journey-desc-5">
            <a:extLst>
              <a:ext uri="{FF2B5EF4-FFF2-40B4-BE49-F238E27FC236}">
                <a16:creationId xmlns="" xmlns:a16="http://schemas.microsoft.com/office/drawing/2014/main" id="{07B37602-B388-4AA0-AD2D-8E88A201C752}"/>
              </a:ext>
            </a:extLst>
          </p:cNvPr>
          <p:cNvSpPr>
            <a:spLocks noGrp="1"/>
          </p:cNvSpPr>
          <p:nvPr/>
        </p:nvSpPr>
        <p:spPr>
          <a:xfrm>
            <a:off x="9982200" y="46291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Services unlocked</a:t>
            </a:r>
          </a:p>
        </p:txBody>
      </p:sp>
      <p:sp>
        <p:nvSpPr>
          <p:cNvPr id="41" name="journey-outcome">
            <a:extLst>
              <a:ext uri="{FF2B5EF4-FFF2-40B4-BE49-F238E27FC236}">
                <a16:creationId xmlns="" xmlns:a16="http://schemas.microsoft.com/office/drawing/2014/main" id="{778CE331-4D2D-4EA9-94BE-3BCD56852915}"/>
              </a:ext>
            </a:extLst>
          </p:cNvPr>
          <p:cNvSpPr>
            <a:spLocks noGrp="1"/>
          </p:cNvSpPr>
          <p:nvPr/>
        </p:nvSpPr>
        <p:spPr>
          <a:xfrm>
            <a:off x="3333750" y="5286375"/>
            <a:ext cx="5524500" cy="514350"/>
          </a:xfrm>
          <a:prstGeom prst="roundRect">
            <a:avLst>
              <a:gd name="adj" fmla="val 50000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42" name="journey-outcome-text">
            <a:extLst>
              <a:ext uri="{FF2B5EF4-FFF2-40B4-BE49-F238E27FC236}">
                <a16:creationId xmlns="" xmlns:a16="http://schemas.microsoft.com/office/drawing/2014/main" id="{D9155429-431D-4551-A05C-36395FAEBED4}"/>
              </a:ext>
            </a:extLst>
          </p:cNvPr>
          <p:cNvSpPr>
            <a:spLocks noGrp="1"/>
          </p:cNvSpPr>
          <p:nvPr/>
        </p:nvSpPr>
        <p:spPr>
          <a:xfrm>
            <a:off x="3619500" y="54102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stage is trackable, reviewable and connected.</a:t>
            </a:r>
          </a:p>
        </p:txBody>
      </p:sp>
      <p:sp>
        <p:nvSpPr>
          <p:cNvPr id="43" name="footer-rule-5">
            <a:extLst>
              <a:ext uri="{FF2B5EF4-FFF2-40B4-BE49-F238E27FC236}">
                <a16:creationId xmlns="" xmlns:a16="http://schemas.microsoft.com/office/drawing/2014/main" id="{B3FD63F0-F89B-4C28-9BFE-AE46146ACE6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4" name="footer-label-5">
            <a:extLst>
              <a:ext uri="{FF2B5EF4-FFF2-40B4-BE49-F238E27FC236}">
                <a16:creationId xmlns="" xmlns:a16="http://schemas.microsoft.com/office/drawing/2014/main" id="{59602D81-0F31-44D5-9799-F42DF0F1845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5">
            <a:extLst>
              <a:ext uri="{FF2B5EF4-FFF2-40B4-BE49-F238E27FC236}">
                <a16:creationId xmlns="" xmlns:a16="http://schemas.microsoft.com/office/drawing/2014/main" id="{7AEE09CC-0FFF-4BDE-8181-FC8358A384C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106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4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8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20"/>
                            </p:stCondLst>
                            <p:childTnLst>
                              <p:par>
                                <p:cTn id="47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16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700"/>
                            </p:stCondLst>
                            <p:childTnLst>
                              <p:par>
                                <p:cTn id="69" presetID="23" presetClass="entr" presetSubtype="16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24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5" grpId="0"/>
      <p:bldP spid="19" grpId="0"/>
      <p:bldP spid="20" grpId="0"/>
      <p:bldP spid="24" grpId="0"/>
      <p:bldP spid="25" grpId="0"/>
      <p:bldP spid="29" grpId="0"/>
      <p:bldP spid="30" grpId="0"/>
      <p:bldP spid="34" grpId="0"/>
      <p:bldP spid="35" grpId="0"/>
      <p:bldP spid="39" grpId="0"/>
      <p:bldP spid="40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shboard-shadow">
            <a:extLst>
              <a:ext uri="{FF2B5EF4-FFF2-40B4-BE49-F238E27FC236}">
                <a16:creationId xmlns="" xmlns:a16="http://schemas.microsoft.com/office/drawing/2014/main" id="{4FCC407F-C0E5-47B1-A077-6DE2194B1F6A}"/>
              </a:ext>
            </a:extLst>
          </p:cNvPr>
          <p:cNvSpPr>
            <a:spLocks noGrp="1"/>
          </p:cNvSpPr>
          <p:nvPr/>
        </p:nvSpPr>
        <p:spPr>
          <a:xfrm>
            <a:off x="4976812" y="1896210"/>
            <a:ext cx="7061689" cy="4473087"/>
          </a:xfrm>
          <a:prstGeom prst="roundRect">
            <a:avLst>
              <a:gd name="adj" fmla="val 3913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26" name="brand-gold-square">
            <a:extLst>
              <a:ext uri="{FF2B5EF4-FFF2-40B4-BE49-F238E27FC236}">
                <a16:creationId xmlns="" xmlns:a16="http://schemas.microsoft.com/office/drawing/2014/main" id="{FC57BDEB-5A9F-4A66-BE1B-18D0DC4D377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1C74A2E8-E347-4930-82B9-3247DAB5B82B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5BDBC007-3A65-4D0F-AF60-7E33B0B0A16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200" b="1" dirty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MEMBER PORTAL VIEW</a:t>
            </a:r>
            <a:endParaRPr lang="en-US" sz="3200" b="1" dirty="0">
              <a:solidFill>
                <a:srgbClr val="C6A15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why-statement">
            <a:extLst>
              <a:ext uri="{FF2B5EF4-FFF2-40B4-BE49-F238E27FC236}">
                <a16:creationId xmlns="" xmlns:a16="http://schemas.microsoft.com/office/drawing/2014/main" id="{C08D5913-B7C9-4F61-9465-EBAB256627EE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2476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reliable</a:t>
            </a:r>
          </a:p>
          <a:p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10" name="why-label-0">
            <a:extLst>
              <a:ext uri="{FF2B5EF4-FFF2-40B4-BE49-F238E27FC236}">
                <a16:creationId xmlns="" xmlns:a16="http://schemas.microsoft.com/office/drawing/2014/main" id="{B459F152-1D41-44A3-AB87-D3B2A803A51B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2" name="why-label-1">
            <a:extLst>
              <a:ext uri="{FF2B5EF4-FFF2-40B4-BE49-F238E27FC236}">
                <a16:creationId xmlns="" xmlns:a16="http://schemas.microsoft.com/office/drawing/2014/main" id="{0E610E74-F12F-43ED-8917-C5E299FB8215}"/>
              </a:ext>
            </a:extLst>
          </p:cNvPr>
          <p:cNvSpPr>
            <a:spLocks noGrp="1"/>
          </p:cNvSpPr>
          <p:nvPr/>
        </p:nvSpPr>
        <p:spPr>
          <a:xfrm>
            <a:off x="914400" y="4829175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4" name="why-label-2">
            <a:extLst>
              <a:ext uri="{FF2B5EF4-FFF2-40B4-BE49-F238E27FC236}">
                <a16:creationId xmlns="" xmlns:a16="http://schemas.microsoft.com/office/drawing/2014/main" id="{8C9D69F7-4651-489A-A390-21D8DD3E4B8E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16" name="why-label-3">
            <a:extLst>
              <a:ext uri="{FF2B5EF4-FFF2-40B4-BE49-F238E27FC236}">
                <a16:creationId xmlns="" xmlns:a16="http://schemas.microsoft.com/office/drawing/2014/main" id="{8F042980-014E-4CCD-9BB5-10BEA5B9D13A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18" name="why-label-4">
            <a:extLst>
              <a:ext uri="{FF2B5EF4-FFF2-40B4-BE49-F238E27FC236}">
                <a16:creationId xmlns="" xmlns:a16="http://schemas.microsoft.com/office/drawing/2014/main" id="{392F81C1-AF74-48E8-A9C9-19099BF10B8B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20" name="dashboard-shadow">
            <a:extLst>
              <a:ext uri="{FF2B5EF4-FFF2-40B4-BE49-F238E27FC236}">
                <a16:creationId xmlns="" xmlns:a16="http://schemas.microsoft.com/office/drawing/2014/main" id="{4FCC407F-C0E5-47B1-A077-6DE2194B1F6A}"/>
              </a:ext>
            </a:extLst>
          </p:cNvPr>
          <p:cNvSpPr>
            <a:spLocks noGrp="1"/>
          </p:cNvSpPr>
          <p:nvPr/>
        </p:nvSpPr>
        <p:spPr>
          <a:xfrm>
            <a:off x="685799" y="1877525"/>
            <a:ext cx="4000501" cy="4473087"/>
          </a:xfrm>
          <a:prstGeom prst="roundRect">
            <a:avLst>
              <a:gd name="adj" fmla="val 3913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21" name="dashboard-frame">
            <a:extLst>
              <a:ext uri="{FF2B5EF4-FFF2-40B4-BE49-F238E27FC236}">
                <a16:creationId xmlns="" xmlns:a16="http://schemas.microsoft.com/office/drawing/2014/main" id="{A0E31A0E-1EA4-4231-9450-7DF6DFAA4739}"/>
              </a:ext>
            </a:extLst>
          </p:cNvPr>
          <p:cNvSpPr>
            <a:spLocks noGrp="1"/>
          </p:cNvSpPr>
          <p:nvPr/>
        </p:nvSpPr>
        <p:spPr>
          <a:xfrm>
            <a:off x="4976812" y="1877525"/>
            <a:ext cx="7061689" cy="43815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30298" y="1896210"/>
            <a:ext cx="6954715" cy="4178909"/>
          </a:xfrm>
          <a:prstGeom prst="rect">
            <a:avLst/>
          </a:prstGeom>
        </p:spPr>
      </p:pic>
      <p:sp>
        <p:nvSpPr>
          <p:cNvPr id="23" name="footer-rule-2">
            <a:extLst>
              <a:ext uri="{FF2B5EF4-FFF2-40B4-BE49-F238E27FC236}">
                <a16:creationId xmlns="" xmlns:a16="http://schemas.microsoft.com/office/drawing/2014/main" id="{0FA7D13D-810E-47BD-BCBB-5C08EA3E1397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24" name="footer-label-2">
            <a:extLst>
              <a:ext uri="{FF2B5EF4-FFF2-40B4-BE49-F238E27FC236}">
                <a16:creationId xmlns="" xmlns:a16="http://schemas.microsoft.com/office/drawing/2014/main" id="{22397725-24A4-421F-B955-77F95B0F5C8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25" name="footer-page-2">
            <a:extLst>
              <a:ext uri="{FF2B5EF4-FFF2-40B4-BE49-F238E27FC236}">
                <a16:creationId xmlns="" xmlns:a16="http://schemas.microsoft.com/office/drawing/2014/main" id="{680DAC0B-DCC4-4943-8D16-9553BAEA49F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 dirty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7" name="dashboard-frame">
            <a:extLst>
              <a:ext uri="{FF2B5EF4-FFF2-40B4-BE49-F238E27FC236}">
                <a16:creationId xmlns="" xmlns:a16="http://schemas.microsoft.com/office/drawing/2014/main" id="{A0E31A0E-1EA4-4231-9450-7DF6DFAA4739}"/>
              </a:ext>
            </a:extLst>
          </p:cNvPr>
          <p:cNvSpPr>
            <a:spLocks noGrp="1"/>
          </p:cNvSpPr>
          <p:nvPr/>
        </p:nvSpPr>
        <p:spPr>
          <a:xfrm>
            <a:off x="685798" y="1877525"/>
            <a:ext cx="4000502" cy="438150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997001"/>
            <a:ext cx="3659066" cy="425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0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7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4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1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8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  <p:bldP spid="12" grpId="0"/>
      <p:bldP spid="14" grpId="0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d-gold-square">
            <a:extLst>
              <a:ext uri="{FF2B5EF4-FFF2-40B4-BE49-F238E27FC236}">
                <a16:creationId xmlns="" xmlns:a16="http://schemas.microsoft.com/office/drawing/2014/main" id="{299AA544-C3D4-42BF-ADA8-71A1D4692C3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E9A9557D-7BEF-4E0E-ABD2-3D6597CD87F8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39EBF12E-156F-4E0B-B576-0053BBF74D5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identity is visible—and instantly verifiable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="" xmlns:a16="http://schemas.microsoft.com/office/drawing/2014/main" id="{33DAA628-5733-4404-8C47-BCAFCE1D1514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The actual member card and certificate carry the credentials needed to confirm identity and status.</a:t>
            </a:r>
          </a:p>
        </p:txBody>
      </p:sp>
      <p:sp>
        <p:nvSpPr>
          <p:cNvPr id="5" name="identity-front-label">
            <a:extLst>
              <a:ext uri="{FF2B5EF4-FFF2-40B4-BE49-F238E27FC236}">
                <a16:creationId xmlns="" xmlns:a16="http://schemas.microsoft.com/office/drawing/2014/main" id="{4C3767FB-81AE-4CBC-AA55-AC9FDBB97F7D}"/>
              </a:ext>
            </a:extLst>
          </p:cNvPr>
          <p:cNvSpPr>
            <a:spLocks noGrp="1"/>
          </p:cNvSpPr>
          <p:nvPr/>
        </p:nvSpPr>
        <p:spPr>
          <a:xfrm>
            <a:off x="685800" y="1895475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DIGITAL CARD • FRONT</a:t>
            </a:r>
          </a:p>
        </p:txBody>
      </p:sp>
      <p:sp>
        <p:nvSpPr>
          <p:cNvPr id="6" name="identity-back-label">
            <a:extLst>
              <a:ext uri="{FF2B5EF4-FFF2-40B4-BE49-F238E27FC236}">
                <a16:creationId xmlns="" xmlns:a16="http://schemas.microsoft.com/office/drawing/2014/main" id="{E08A8635-1FA7-49A4-92F4-104B11AAF6AF}"/>
              </a:ext>
            </a:extLst>
          </p:cNvPr>
          <p:cNvSpPr>
            <a:spLocks noGrp="1"/>
          </p:cNvSpPr>
          <p:nvPr/>
        </p:nvSpPr>
        <p:spPr>
          <a:xfrm>
            <a:off x="3009900" y="1895475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QR VERIFICATION • BACK</a:t>
            </a:r>
          </a:p>
        </p:txBody>
      </p:sp>
      <p:sp>
        <p:nvSpPr>
          <p:cNvPr id="7" name="identity-certificate-label">
            <a:extLst>
              <a:ext uri="{FF2B5EF4-FFF2-40B4-BE49-F238E27FC236}">
                <a16:creationId xmlns="" xmlns:a16="http://schemas.microsoft.com/office/drawing/2014/main" id="{142AD0F8-EEF1-42BF-86DF-38E6746614CE}"/>
              </a:ext>
            </a:extLst>
          </p:cNvPr>
          <p:cNvSpPr>
            <a:spLocks noGrp="1"/>
          </p:cNvSpPr>
          <p:nvPr/>
        </p:nvSpPr>
        <p:spPr>
          <a:xfrm>
            <a:off x="6362700" y="1895475"/>
            <a:ext cx="514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MEMBERSHIP CERTIFICATE • QR + REFERENCE</a:t>
            </a:r>
          </a:p>
        </p:txBody>
      </p:sp>
      <p:sp>
        <p:nvSpPr>
          <p:cNvPr id="8" name="identity-front-shadow">
            <a:extLst>
              <a:ext uri="{FF2B5EF4-FFF2-40B4-BE49-F238E27FC236}">
                <a16:creationId xmlns="" xmlns:a16="http://schemas.microsoft.com/office/drawing/2014/main" id="{AE2122DE-A558-4F11-9460-3FCA14AFD7FA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114550" cy="3248025"/>
          </a:xfrm>
          <a:prstGeom prst="roundRect">
            <a:avLst>
              <a:gd name="adj" fmla="val 8108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9" name="identity-back-shadow">
            <a:extLst>
              <a:ext uri="{FF2B5EF4-FFF2-40B4-BE49-F238E27FC236}">
                <a16:creationId xmlns="" xmlns:a16="http://schemas.microsoft.com/office/drawing/2014/main" id="{42DF9C80-2E83-497E-BFC2-4A62072C00A3}"/>
              </a:ext>
            </a:extLst>
          </p:cNvPr>
          <p:cNvSpPr>
            <a:spLocks noGrp="1"/>
          </p:cNvSpPr>
          <p:nvPr/>
        </p:nvSpPr>
        <p:spPr>
          <a:xfrm>
            <a:off x="3086100" y="2266950"/>
            <a:ext cx="2114550" cy="3248025"/>
          </a:xfrm>
          <a:prstGeom prst="roundRect">
            <a:avLst>
              <a:gd name="adj" fmla="val 8108"/>
            </a:avLst>
          </a:prstGeom>
          <a:solidFill>
            <a:srgbClr val="000000">
              <a:alpha val="9412"/>
            </a:srgbClr>
          </a:solidFill>
          <a:ln w="0">
            <a:noFill/>
            <a:prstDash val="solid"/>
          </a:ln>
        </p:spPr>
      </p:sp>
      <p:sp>
        <p:nvSpPr>
          <p:cNvPr id="10" name="identity-certificate-shadow">
            <a:extLst>
              <a:ext uri="{FF2B5EF4-FFF2-40B4-BE49-F238E27FC236}">
                <a16:creationId xmlns="" xmlns:a16="http://schemas.microsoft.com/office/drawing/2014/main" id="{216B31A8-A4A7-4704-AEE2-31ADA0E1C438}"/>
              </a:ext>
            </a:extLst>
          </p:cNvPr>
          <p:cNvSpPr>
            <a:spLocks noGrp="1"/>
          </p:cNvSpPr>
          <p:nvPr/>
        </p:nvSpPr>
        <p:spPr>
          <a:xfrm>
            <a:off x="6457950" y="2266950"/>
            <a:ext cx="5048250" cy="3600450"/>
          </a:xfrm>
          <a:prstGeom prst="roundRect">
            <a:avLst>
              <a:gd name="adj" fmla="val 4233"/>
            </a:avLst>
          </a:prstGeom>
          <a:solidFill>
            <a:srgbClr val="000000">
              <a:alpha val="8627"/>
            </a:srgbClr>
          </a:solidFill>
          <a:ln w="0">
            <a:noFill/>
            <a:prstDash val="solid"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82443"/>
            <a:ext cx="2114550" cy="324558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009900" y="2182443"/>
            <a:ext cx="2114550" cy="324558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2700" y="2182761"/>
            <a:ext cx="5143500" cy="3664052"/>
          </a:xfrm>
          <a:prstGeom prst="rect">
            <a:avLst/>
          </a:prstGeom>
        </p:spPr>
      </p:pic>
      <p:sp>
        <p:nvSpPr>
          <p:cNvPr id="14" name="identity-divider">
            <a:extLst>
              <a:ext uri="{FF2B5EF4-FFF2-40B4-BE49-F238E27FC236}">
                <a16:creationId xmlns="" xmlns:a16="http://schemas.microsoft.com/office/drawing/2014/main" id="{20A19FFA-B02B-4592-92E6-402CE977CB0C}"/>
              </a:ext>
            </a:extLst>
          </p:cNvPr>
          <p:cNvSpPr>
            <a:spLocks noGrp="1"/>
          </p:cNvSpPr>
          <p:nvPr/>
        </p:nvSpPr>
        <p:spPr>
          <a:xfrm>
            <a:off x="5743575" y="2209800"/>
            <a:ext cx="0" cy="350520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5" name="identity-feature-band">
            <a:extLst>
              <a:ext uri="{FF2B5EF4-FFF2-40B4-BE49-F238E27FC236}">
                <a16:creationId xmlns="" xmlns:a16="http://schemas.microsoft.com/office/drawing/2014/main" id="{DB1A9B15-FA7E-47C3-942D-B40D344856C4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400050"/>
          </a:xfrm>
          <a:prstGeom prst="roundRect">
            <a:avLst>
              <a:gd name="adj" fmla="val 50000"/>
            </a:avLst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16" name="identity-features">
            <a:extLst>
              <a:ext uri="{FF2B5EF4-FFF2-40B4-BE49-F238E27FC236}">
                <a16:creationId xmlns="" xmlns:a16="http://schemas.microsoft.com/office/drawing/2014/main" id="{B2569119-3C74-44C9-9668-254132398160}"/>
              </a:ext>
            </a:extLst>
          </p:cNvPr>
          <p:cNvSpPr>
            <a:spLocks noGrp="1"/>
          </p:cNvSpPr>
          <p:nvPr/>
        </p:nvSpPr>
        <p:spPr>
          <a:xfrm>
            <a:off x="876300" y="5991225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Unique Membership ID   •   QR-verified Digital Card   •   Certificate Verification   •   Reference Number Verification   •   Secure Member Records</a:t>
            </a:r>
          </a:p>
        </p:txBody>
      </p:sp>
      <p:sp>
        <p:nvSpPr>
          <p:cNvPr id="17" name="footer-rule-6">
            <a:extLst>
              <a:ext uri="{FF2B5EF4-FFF2-40B4-BE49-F238E27FC236}">
                <a16:creationId xmlns="" xmlns:a16="http://schemas.microsoft.com/office/drawing/2014/main" id="{2FB8347E-9368-4221-A696-150C5591C2E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18" name="footer-label-6">
            <a:extLst>
              <a:ext uri="{FF2B5EF4-FFF2-40B4-BE49-F238E27FC236}">
                <a16:creationId xmlns="" xmlns:a16="http://schemas.microsoft.com/office/drawing/2014/main" id="{9E355453-E33E-4DC2-B2CC-8FEED3442C7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19" name="footer-page-6">
            <a:extLst>
              <a:ext uri="{FF2B5EF4-FFF2-40B4-BE49-F238E27FC236}">
                <a16:creationId xmlns="" xmlns:a16="http://schemas.microsoft.com/office/drawing/2014/main" id="{802D48EC-0BA9-427D-8472-6A9B1AEE0F9F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296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5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0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5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brand-gold-square">
            <a:extLst>
              <a:ext uri="{FF2B5EF4-FFF2-40B4-BE49-F238E27FC236}">
                <a16:creationId xmlns="" xmlns:a16="http://schemas.microsoft.com/office/drawing/2014/main" id="{54EBEED6-76BD-4278-9E6E-E5B0270981F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C73E084D-2F0B-4549-8B07-8F5C6A992A28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5DDAA52C-8A30-4D11-B265-5395E5D958C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AI turns member data into guidance and opportunity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="" xmlns:a16="http://schemas.microsoft.com/office/drawing/2014/main" id="{F5BED61C-8D28-4E8E-ABF0-342C72889688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Two practical tools extend the value of every completed member profile.</a:t>
            </a:r>
          </a:p>
        </p:txBody>
      </p:sp>
      <p:sp>
        <p:nvSpPr>
          <p:cNvPr id="5" name="ai-left-panel">
            <a:extLst>
              <a:ext uri="{FF2B5EF4-FFF2-40B4-BE49-F238E27FC236}">
                <a16:creationId xmlns="" xmlns:a16="http://schemas.microsoft.com/office/drawing/2014/main" id="{FC0ADC32-5BC3-4393-B479-8C973F9F05E1}"/>
              </a:ext>
            </a:extLst>
          </p:cNvPr>
          <p:cNvSpPr>
            <a:spLocks noGrp="1"/>
          </p:cNvSpPr>
          <p:nvPr/>
        </p:nvSpPr>
        <p:spPr>
          <a:xfrm>
            <a:off x="0" y="1866900"/>
            <a:ext cx="6096000" cy="419100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6" name="ai-left-label">
            <a:extLst>
              <a:ext uri="{FF2B5EF4-FFF2-40B4-BE49-F238E27FC236}">
                <a16:creationId xmlns="" xmlns:a16="http://schemas.microsoft.com/office/drawing/2014/main" id="{EF8999F5-AA6F-4D44-A04C-DF9F79DAF39D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7" name="ai-real-label">
            <a:extLst>
              <a:ext uri="{FF2B5EF4-FFF2-40B4-BE49-F238E27FC236}">
                <a16:creationId xmlns="" xmlns:a16="http://schemas.microsoft.com/office/drawing/2014/main" id="{19FC86B3-8799-4971-A632-DF079E0DC8F8}"/>
              </a:ext>
            </a:extLst>
          </p:cNvPr>
          <p:cNvSpPr>
            <a:spLocks noGrp="1"/>
          </p:cNvSpPr>
          <p:nvPr/>
        </p:nvSpPr>
        <p:spPr>
          <a:xfrm>
            <a:off x="685800" y="2295525"/>
            <a:ext cx="2324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REAL PLATFORM VIEW</a:t>
            </a:r>
          </a:p>
        </p:txBody>
      </p:sp>
      <p:sp>
        <p:nvSpPr>
          <p:cNvPr id="8" name="ai-real-shadow">
            <a:extLst>
              <a:ext uri="{FF2B5EF4-FFF2-40B4-BE49-F238E27FC236}">
                <a16:creationId xmlns="" xmlns:a16="http://schemas.microsoft.com/office/drawing/2014/main" id="{92116E71-DAE2-40F7-8836-BEC6CFE43ADE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2324100" cy="3333750"/>
          </a:xfrm>
          <a:prstGeom prst="roundRect">
            <a:avLst>
              <a:gd name="adj" fmla="val 7377"/>
            </a:avLst>
          </a:prstGeom>
          <a:solidFill>
            <a:srgbClr val="000000">
              <a:alpha val="15686"/>
            </a:srgbClr>
          </a:solidFill>
          <a:ln w="0">
            <a:noFill/>
            <a:prstDash val="solid"/>
          </a:ln>
        </p:spPr>
      </p:sp>
      <p:sp>
        <p:nvSpPr>
          <p:cNvPr id="9" name="ai-real-frame">
            <a:extLst>
              <a:ext uri="{FF2B5EF4-FFF2-40B4-BE49-F238E27FC236}">
                <a16:creationId xmlns="" xmlns:a16="http://schemas.microsoft.com/office/drawing/2014/main" id="{1B370E1A-5429-417A-9382-B0DB2E175267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2324100" cy="3333750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C6A15B"/>
            </a:solidFill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484" y="2571750"/>
            <a:ext cx="2170732" cy="3219450"/>
          </a:xfrm>
          <a:prstGeom prst="rect">
            <a:avLst/>
          </a:prstGeom>
        </p:spPr>
      </p:pic>
      <p:sp>
        <p:nvSpPr>
          <p:cNvPr id="11" name="ai-proof-title">
            <a:extLst>
              <a:ext uri="{FF2B5EF4-FFF2-40B4-BE49-F238E27FC236}">
                <a16:creationId xmlns="" xmlns:a16="http://schemas.microsoft.com/office/drawing/2014/main" id="{3425839F-3694-40D2-BF8B-F798486A7DED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GUIDANCE, ON DEMAND</a:t>
            </a:r>
          </a:p>
        </p:txBody>
      </p:sp>
      <p:sp>
        <p:nvSpPr>
          <p:cNvPr id="12" name="ai-check-1-dot">
            <a:extLst>
              <a:ext uri="{FF2B5EF4-FFF2-40B4-BE49-F238E27FC236}">
                <a16:creationId xmlns="" xmlns:a16="http://schemas.microsoft.com/office/drawing/2014/main" id="{C7DD4379-C669-4B98-A508-A71A31C6E5DC}"/>
              </a:ext>
            </a:extLst>
          </p:cNvPr>
          <p:cNvSpPr>
            <a:spLocks noGrp="1"/>
          </p:cNvSpPr>
          <p:nvPr/>
        </p:nvSpPr>
        <p:spPr>
          <a:xfrm>
            <a:off x="3333750" y="3019425"/>
            <a:ext cx="304800" cy="304800"/>
          </a:xfrm>
          <a:prstGeom prst="ellipse">
            <a:avLst/>
          </a:prstGeom>
          <a:solidFill>
            <a:srgbClr val="B89E00"/>
          </a:solidFill>
          <a:ln w="0">
            <a:noFill/>
            <a:prstDash val="solid"/>
          </a:ln>
        </p:spPr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81e02be35fd546ce"/>
              </a:ext>
            </a:extLst>
          </a:blip>
          <a:stretch/>
        </p:blipFill>
        <p:spPr>
          <a:xfrm>
            <a:off x="3409950" y="3095625"/>
            <a:ext cx="152400" cy="152400"/>
          </a:xfrm>
          <a:prstGeom prst="rect">
            <a:avLst/>
          </a:prstGeom>
        </p:spPr>
      </p:pic>
      <p:sp>
        <p:nvSpPr>
          <p:cNvPr id="14" name="ai-check-1-text">
            <a:extLst>
              <a:ext uri="{FF2B5EF4-FFF2-40B4-BE49-F238E27FC236}">
                <a16:creationId xmlns="" xmlns:a16="http://schemas.microsoft.com/office/drawing/2014/main" id="{F851BBC0-90DB-46DB-AEDC-53DBB8A74D9B}"/>
              </a:ext>
            </a:extLst>
          </p:cNvPr>
          <p:cNvSpPr>
            <a:spLocks noGrp="1"/>
          </p:cNvSpPr>
          <p:nvPr/>
        </p:nvSpPr>
        <p:spPr>
          <a:xfrm>
            <a:off x="3771900" y="3000375"/>
            <a:ext cx="1847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24/7 member guidance</a:t>
            </a:r>
          </a:p>
        </p:txBody>
      </p:sp>
      <p:sp>
        <p:nvSpPr>
          <p:cNvPr id="15" name="ai-check-2-dot">
            <a:extLst>
              <a:ext uri="{FF2B5EF4-FFF2-40B4-BE49-F238E27FC236}">
                <a16:creationId xmlns="" xmlns:a16="http://schemas.microsoft.com/office/drawing/2014/main" id="{4A09B87B-1D0D-4816-B9F7-794E9A5DFE91}"/>
              </a:ext>
            </a:extLst>
          </p:cNvPr>
          <p:cNvSpPr>
            <a:spLocks noGrp="1"/>
          </p:cNvSpPr>
          <p:nvPr/>
        </p:nvSpPr>
        <p:spPr>
          <a:xfrm>
            <a:off x="3333750" y="3667125"/>
            <a:ext cx="304800" cy="304800"/>
          </a:xfrm>
          <a:prstGeom prst="ellipse">
            <a:avLst/>
          </a:prstGeom>
          <a:solidFill>
            <a:srgbClr val="B89E00"/>
          </a:solidFill>
          <a:ln w="0">
            <a:noFill/>
            <a:prstDash val="solid"/>
          </a:ln>
        </p:spPr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f41621339fff4fa9"/>
              </a:ext>
            </a:extLst>
          </a:blip>
          <a:stretch/>
        </p:blipFill>
        <p:spPr>
          <a:xfrm>
            <a:off x="3409950" y="3743325"/>
            <a:ext cx="152400" cy="152400"/>
          </a:xfrm>
          <a:prstGeom prst="rect">
            <a:avLst/>
          </a:prstGeom>
        </p:spPr>
      </p:pic>
      <p:sp>
        <p:nvSpPr>
          <p:cNvPr id="17" name="ai-check-2-text">
            <a:extLst>
              <a:ext uri="{FF2B5EF4-FFF2-40B4-BE49-F238E27FC236}">
                <a16:creationId xmlns="" xmlns:a16="http://schemas.microsoft.com/office/drawing/2014/main" id="{BD80C324-B386-4262-81B3-625D013EC2D2}"/>
              </a:ext>
            </a:extLst>
          </p:cNvPr>
          <p:cNvSpPr>
            <a:spLocks noGrp="1"/>
          </p:cNvSpPr>
          <p:nvPr/>
        </p:nvSpPr>
        <p:spPr>
          <a:xfrm>
            <a:off x="3771900" y="3648075"/>
            <a:ext cx="1847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TNR-related information</a:t>
            </a:r>
          </a:p>
        </p:txBody>
      </p:sp>
      <p:sp>
        <p:nvSpPr>
          <p:cNvPr id="18" name="ai-check-3-dot">
            <a:extLst>
              <a:ext uri="{FF2B5EF4-FFF2-40B4-BE49-F238E27FC236}">
                <a16:creationId xmlns="" xmlns:a16="http://schemas.microsoft.com/office/drawing/2014/main" id="{C5A1C32B-FD47-46CB-973E-10C0F1C9207D}"/>
              </a:ext>
            </a:extLst>
          </p:cNvPr>
          <p:cNvSpPr>
            <a:spLocks noGrp="1"/>
          </p:cNvSpPr>
          <p:nvPr/>
        </p:nvSpPr>
        <p:spPr>
          <a:xfrm>
            <a:off x="3333750" y="4314825"/>
            <a:ext cx="304800" cy="304800"/>
          </a:xfrm>
          <a:prstGeom prst="ellipse">
            <a:avLst/>
          </a:prstGeom>
          <a:solidFill>
            <a:srgbClr val="B89E00"/>
          </a:solidFill>
          <a:ln w="0">
            <a:noFill/>
            <a:prstDash val="solid"/>
          </a:ln>
        </p:spPr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4ed887fd09d94cae"/>
              </a:ext>
            </a:extLst>
          </a:blip>
          <a:stretch/>
        </p:blipFill>
        <p:spPr>
          <a:xfrm>
            <a:off x="3409950" y="4391025"/>
            <a:ext cx="152400" cy="152400"/>
          </a:xfrm>
          <a:prstGeom prst="rect">
            <a:avLst/>
          </a:prstGeom>
        </p:spPr>
      </p:pic>
      <p:sp>
        <p:nvSpPr>
          <p:cNvPr id="20" name="ai-check-3-text">
            <a:extLst>
              <a:ext uri="{FF2B5EF4-FFF2-40B4-BE49-F238E27FC236}">
                <a16:creationId xmlns="" xmlns:a16="http://schemas.microsoft.com/office/drawing/2014/main" id="{413DD055-6BA4-4632-889C-EE7B5EFE3FF3}"/>
              </a:ext>
            </a:extLst>
          </p:cNvPr>
          <p:cNvSpPr>
            <a:spLocks noGrp="1"/>
          </p:cNvSpPr>
          <p:nvPr/>
        </p:nvSpPr>
        <p:spPr>
          <a:xfrm>
            <a:off x="3771900" y="4295775"/>
            <a:ext cx="1847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assistance</a:t>
            </a:r>
          </a:p>
        </p:txBody>
      </p:sp>
      <p:sp>
        <p:nvSpPr>
          <p:cNvPr id="21" name="ai-proof-rule">
            <a:extLst>
              <a:ext uri="{FF2B5EF4-FFF2-40B4-BE49-F238E27FC236}">
                <a16:creationId xmlns="" xmlns:a16="http://schemas.microsoft.com/office/drawing/2014/main" id="{9E6A4B04-F9E4-4CF5-811A-FB89E6A6EF1B}"/>
              </a:ext>
            </a:extLst>
          </p:cNvPr>
          <p:cNvSpPr>
            <a:spLocks noGrp="1"/>
          </p:cNvSpPr>
          <p:nvPr/>
        </p:nvSpPr>
        <p:spPr>
          <a:xfrm>
            <a:off x="3333750" y="4972050"/>
            <a:ext cx="1571625" cy="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22" name="ai-source-label">
            <a:extLst>
              <a:ext uri="{FF2B5EF4-FFF2-40B4-BE49-F238E27FC236}">
                <a16:creationId xmlns="" xmlns:a16="http://schemas.microsoft.com/office/drawing/2014/main" id="{1BFE8B8A-2E1B-4E0E-A7ED-3AC55F299D7E}"/>
              </a:ext>
            </a:extLst>
          </p:cNvPr>
          <p:cNvSpPr>
            <a:spLocks noGrp="1"/>
          </p:cNvSpPr>
          <p:nvPr/>
        </p:nvSpPr>
        <p:spPr>
          <a:xfrm>
            <a:off x="3333750" y="5200650"/>
            <a:ext cx="2171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200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Answers grounded in official TNR information.</a:t>
            </a:r>
          </a:p>
        </p:txBody>
      </p:sp>
      <p:sp>
        <p:nvSpPr>
          <p:cNvPr id="23" name="cv-right-label">
            <a:extLst>
              <a:ext uri="{FF2B5EF4-FFF2-40B4-BE49-F238E27FC236}">
                <a16:creationId xmlns="" xmlns:a16="http://schemas.microsoft.com/office/drawing/2014/main" id="{549A96C5-6F7F-45BD-A5D8-1BAA7446DDFF}"/>
              </a:ext>
            </a:extLst>
          </p:cNvPr>
          <p:cNvSpPr>
            <a:spLocks noGrp="1"/>
          </p:cNvSpPr>
          <p:nvPr/>
        </p:nvSpPr>
        <p:spPr>
          <a:xfrm>
            <a:off x="6661638" y="1585912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 dirty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4" name="cv-browser-shadow">
            <a:extLst>
              <a:ext uri="{FF2B5EF4-FFF2-40B4-BE49-F238E27FC236}">
                <a16:creationId xmlns="" xmlns:a16="http://schemas.microsoft.com/office/drawing/2014/main" id="{A7D8D1CF-CC71-4A8F-BA0E-28934697B921}"/>
              </a:ext>
            </a:extLst>
          </p:cNvPr>
          <p:cNvSpPr>
            <a:spLocks noGrp="1"/>
          </p:cNvSpPr>
          <p:nvPr/>
        </p:nvSpPr>
        <p:spPr>
          <a:xfrm>
            <a:off x="6661638" y="1833562"/>
            <a:ext cx="4920762" cy="3947380"/>
          </a:xfrm>
          <a:prstGeom prst="roundRect">
            <a:avLst>
              <a:gd name="adj" fmla="val 6923"/>
            </a:avLst>
          </a:prstGeom>
          <a:solidFill>
            <a:srgbClr val="000000">
              <a:alpha val="7843"/>
            </a:srgbClr>
          </a:solidFill>
          <a:ln w="0">
            <a:noFill/>
            <a:prstDash val="solid"/>
          </a:ln>
        </p:spPr>
      </p:sp>
      <p:sp>
        <p:nvSpPr>
          <p:cNvPr id="25" name="cv-browser-frame">
            <a:extLst>
              <a:ext uri="{FF2B5EF4-FFF2-40B4-BE49-F238E27FC236}">
                <a16:creationId xmlns="" xmlns:a16="http://schemas.microsoft.com/office/drawing/2014/main" id="{62AECD50-005A-472D-87E7-D3E12DEA7AFC}"/>
              </a:ext>
            </a:extLst>
          </p:cNvPr>
          <p:cNvSpPr>
            <a:spLocks noGrp="1"/>
          </p:cNvSpPr>
          <p:nvPr/>
        </p:nvSpPr>
        <p:spPr>
          <a:xfrm>
            <a:off x="6743700" y="1833562"/>
            <a:ext cx="4838700" cy="379498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sp>
        <p:nvSpPr>
          <p:cNvPr id="27" name="cv-browser-chrome-cover">
            <a:extLst>
              <a:ext uri="{FF2B5EF4-FFF2-40B4-BE49-F238E27FC236}">
                <a16:creationId xmlns="" xmlns:a16="http://schemas.microsoft.com/office/drawing/2014/main" id="{53F22F78-A0F4-45EB-BEB9-702A648E6D31}"/>
              </a:ext>
            </a:extLst>
          </p:cNvPr>
          <p:cNvSpPr>
            <a:spLocks noGrp="1"/>
          </p:cNvSpPr>
          <p:nvPr/>
        </p:nvSpPr>
        <p:spPr>
          <a:xfrm>
            <a:off x="6743700" y="2695575"/>
            <a:ext cx="4762500" cy="161925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28" name="cv-browser-dot-0">
            <a:extLst>
              <a:ext uri="{FF2B5EF4-FFF2-40B4-BE49-F238E27FC236}">
                <a16:creationId xmlns="" xmlns:a16="http://schemas.microsoft.com/office/drawing/2014/main" id="{90B8D555-A1BA-43E2-926F-C37F84B39E17}"/>
              </a:ext>
            </a:extLst>
          </p:cNvPr>
          <p:cNvSpPr>
            <a:spLocks noGrp="1"/>
          </p:cNvSpPr>
          <p:nvPr/>
        </p:nvSpPr>
        <p:spPr>
          <a:xfrm>
            <a:off x="6915150" y="2609850"/>
            <a:ext cx="66675" cy="6667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9" name="cv-browser-dot-1">
            <a:extLst>
              <a:ext uri="{FF2B5EF4-FFF2-40B4-BE49-F238E27FC236}">
                <a16:creationId xmlns="" xmlns:a16="http://schemas.microsoft.com/office/drawing/2014/main" id="{CBF3B782-6A38-4D57-8647-44B0DEDEC018}"/>
              </a:ext>
            </a:extLst>
          </p:cNvPr>
          <p:cNvSpPr>
            <a:spLocks noGrp="1"/>
          </p:cNvSpPr>
          <p:nvPr/>
        </p:nvSpPr>
        <p:spPr>
          <a:xfrm>
            <a:off x="7058025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30" name="cv-browser-dot-2">
            <a:extLst>
              <a:ext uri="{FF2B5EF4-FFF2-40B4-BE49-F238E27FC236}">
                <a16:creationId xmlns="" xmlns:a16="http://schemas.microsoft.com/office/drawing/2014/main" id="{7AFC184A-C3A0-4239-A7AB-8D27D13F0A62}"/>
              </a:ext>
            </a:extLst>
          </p:cNvPr>
          <p:cNvSpPr>
            <a:spLocks noGrp="1"/>
          </p:cNvSpPr>
          <p:nvPr/>
        </p:nvSpPr>
        <p:spPr>
          <a:xfrm>
            <a:off x="7200900" y="2609850"/>
            <a:ext cx="66675" cy="66675"/>
          </a:xfrm>
          <a:prstGeom prst="ellipse">
            <a:avLst/>
          </a:prstGeom>
          <a:solidFill>
            <a:srgbClr val="B9C0BB"/>
          </a:solidFill>
          <a:ln w="0">
            <a:noFill/>
            <a:prstDash val="solid"/>
          </a:ln>
        </p:spPr>
      </p:sp>
      <p:sp>
        <p:nvSpPr>
          <p:cNvPr id="31" name="cv-browser-label">
            <a:extLst>
              <a:ext uri="{FF2B5EF4-FFF2-40B4-BE49-F238E27FC236}">
                <a16:creationId xmlns="" xmlns:a16="http://schemas.microsoft.com/office/drawing/2014/main" id="{5EC417AE-701D-460A-9D9B-74FC6175DF0E}"/>
              </a:ext>
            </a:extLst>
          </p:cNvPr>
          <p:cNvSpPr>
            <a:spLocks noGrp="1"/>
          </p:cNvSpPr>
          <p:nvPr/>
        </p:nvSpPr>
        <p:spPr>
          <a:xfrm>
            <a:off x="7467600" y="2533650"/>
            <a:ext cx="3867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endParaRPr sz="825" b="1" i="0" dirty="0">
              <a:solidFill>
                <a:srgbClr val="0D3B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9" name="cv-line-2">
            <a:extLst>
              <a:ext uri="{FF2B5EF4-FFF2-40B4-BE49-F238E27FC236}">
                <a16:creationId xmlns="" xmlns:a16="http://schemas.microsoft.com/office/drawing/2014/main" id="{F9C83542-B8C6-4B9E-8CF2-C33089D46F97}"/>
              </a:ext>
            </a:extLst>
          </p:cNvPr>
          <p:cNvSpPr>
            <a:spLocks noGrp="1"/>
          </p:cNvSpPr>
          <p:nvPr/>
        </p:nvSpPr>
        <p:spPr>
          <a:xfrm>
            <a:off x="7334250" y="3962400"/>
            <a:ext cx="102870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0" name="cv-line-3">
            <a:extLst>
              <a:ext uri="{FF2B5EF4-FFF2-40B4-BE49-F238E27FC236}">
                <a16:creationId xmlns="" xmlns:a16="http://schemas.microsoft.com/office/drawing/2014/main" id="{7800B048-2DAA-4396-BC3D-0D6ABB5BA83C}"/>
              </a:ext>
            </a:extLst>
          </p:cNvPr>
          <p:cNvSpPr>
            <a:spLocks noGrp="1"/>
          </p:cNvSpPr>
          <p:nvPr/>
        </p:nvSpPr>
        <p:spPr>
          <a:xfrm>
            <a:off x="7334250" y="4105275"/>
            <a:ext cx="85725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sp>
        <p:nvSpPr>
          <p:cNvPr id="41" name="cv-line-4">
            <a:extLst>
              <a:ext uri="{FF2B5EF4-FFF2-40B4-BE49-F238E27FC236}">
                <a16:creationId xmlns="" xmlns:a16="http://schemas.microsoft.com/office/drawing/2014/main" id="{F88C4368-C0BB-4889-80FB-1C02278BA741}"/>
              </a:ext>
            </a:extLst>
          </p:cNvPr>
          <p:cNvSpPr>
            <a:spLocks noGrp="1"/>
          </p:cNvSpPr>
          <p:nvPr/>
        </p:nvSpPr>
        <p:spPr>
          <a:xfrm>
            <a:off x="7334250" y="4248150"/>
            <a:ext cx="1028700" cy="38100"/>
          </a:xfrm>
          <a:prstGeom prst="rect">
            <a:avLst/>
          </a:prstGeom>
          <a:solidFill>
            <a:srgbClr val="E9ECE7"/>
          </a:solidFill>
          <a:ln w="0">
            <a:noFill/>
            <a:prstDash val="solid"/>
          </a:ln>
        </p:spPr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9fc4dc7aba6f4cb3"/>
              </a:ext>
            </a:extLst>
          </a:blip>
          <a:stretch/>
        </p:blipFill>
        <p:spPr>
          <a:xfrm>
            <a:off x="9601200" y="3476625"/>
            <a:ext cx="438150" cy="438150"/>
          </a:xfrm>
          <a:prstGeom prst="rect">
            <a:avLst/>
          </a:prstGeom>
        </p:spPr>
      </p:pic>
      <p:sp>
        <p:nvSpPr>
          <p:cNvPr id="45" name="cv-check-1-dot">
            <a:extLst>
              <a:ext uri="{FF2B5EF4-FFF2-40B4-BE49-F238E27FC236}">
                <a16:creationId xmlns="" xmlns:a16="http://schemas.microsoft.com/office/drawing/2014/main" id="{DB532EA9-0AC1-4685-A200-87A45CA0C64B}"/>
              </a:ext>
            </a:extLst>
          </p:cNvPr>
          <p:cNvSpPr>
            <a:spLocks noGrp="1"/>
          </p:cNvSpPr>
          <p:nvPr/>
        </p:nvSpPr>
        <p:spPr>
          <a:xfrm>
            <a:off x="6743700" y="5181600"/>
            <a:ext cx="304800" cy="30480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b1ab499cada9497c"/>
              </a:ext>
            </a:extLst>
          </a:blip>
          <a:stretch/>
        </p:blipFill>
        <p:spPr>
          <a:xfrm>
            <a:off x="6819900" y="5257800"/>
            <a:ext cx="152400" cy="152400"/>
          </a:xfrm>
          <a:prstGeom prst="rect">
            <a:avLst/>
          </a:prstGeom>
        </p:spPr>
      </p:pic>
      <p:sp>
        <p:nvSpPr>
          <p:cNvPr id="47" name="cv-check-1-text">
            <a:extLst>
              <a:ext uri="{FF2B5EF4-FFF2-40B4-BE49-F238E27FC236}">
                <a16:creationId xmlns="" xmlns:a16="http://schemas.microsoft.com/office/drawing/2014/main" id="{AF7CA87F-3E99-4E56-A1D0-D9F142A12024}"/>
              </a:ext>
            </a:extLst>
          </p:cNvPr>
          <p:cNvSpPr>
            <a:spLocks noGrp="1"/>
          </p:cNvSpPr>
          <p:nvPr/>
        </p:nvSpPr>
        <p:spPr>
          <a:xfrm>
            <a:off x="7181850" y="5753100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 dirty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Automatic CV generation from member profile</a:t>
            </a:r>
          </a:p>
        </p:txBody>
      </p:sp>
      <p:sp>
        <p:nvSpPr>
          <p:cNvPr id="48" name="cv-check-2-dot">
            <a:extLst>
              <a:ext uri="{FF2B5EF4-FFF2-40B4-BE49-F238E27FC236}">
                <a16:creationId xmlns="" xmlns:a16="http://schemas.microsoft.com/office/drawing/2014/main" id="{E1F9C374-CEA0-43D3-9384-F09FCFDFF62B}"/>
              </a:ext>
            </a:extLst>
          </p:cNvPr>
          <p:cNvSpPr>
            <a:spLocks noGrp="1"/>
          </p:cNvSpPr>
          <p:nvPr/>
        </p:nvSpPr>
        <p:spPr>
          <a:xfrm>
            <a:off x="6743700" y="5600700"/>
            <a:ext cx="304800" cy="304800"/>
          </a:xfrm>
          <a:prstGeom prst="ellipse">
            <a:avLst/>
          </a:prstGeom>
          <a:solidFill>
            <a:srgbClr val="F6F4EE"/>
          </a:solidFill>
          <a:ln w="0">
            <a:noFill/>
            <a:prstDash val="solid"/>
          </a:ln>
        </p:spPr>
      </p:sp>
      <p:pic>
        <p:nvPicPr>
          <p:cNvPr id="102" name="Picture 10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ee0efbaf85ae40ff"/>
              </a:ext>
            </a:extLst>
          </a:blip>
          <a:stretch/>
        </p:blipFill>
        <p:spPr>
          <a:xfrm>
            <a:off x="6819900" y="5676900"/>
            <a:ext cx="152400" cy="152400"/>
          </a:xfrm>
          <a:prstGeom prst="rect">
            <a:avLst/>
          </a:prstGeom>
        </p:spPr>
      </p:pic>
      <p:sp>
        <p:nvSpPr>
          <p:cNvPr id="50" name="cv-check-2-text">
            <a:extLst>
              <a:ext uri="{FF2B5EF4-FFF2-40B4-BE49-F238E27FC236}">
                <a16:creationId xmlns="" xmlns:a16="http://schemas.microsoft.com/office/drawing/2014/main" id="{0E4040CB-D2F7-41AF-8540-CB1C0BC8360D}"/>
              </a:ext>
            </a:extLst>
          </p:cNvPr>
          <p:cNvSpPr>
            <a:spLocks noGrp="1"/>
          </p:cNvSpPr>
          <p:nvPr/>
        </p:nvSpPr>
        <p:spPr>
          <a:xfrm>
            <a:off x="7200900" y="6000017"/>
            <a:ext cx="432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 dirty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Downloadable professional CV</a:t>
            </a:r>
          </a:p>
        </p:txBody>
      </p:sp>
      <p:sp>
        <p:nvSpPr>
          <p:cNvPr id="51" name="footer-rule-7">
            <a:extLst>
              <a:ext uri="{FF2B5EF4-FFF2-40B4-BE49-F238E27FC236}">
                <a16:creationId xmlns="" xmlns:a16="http://schemas.microsoft.com/office/drawing/2014/main" id="{B6D0C7B5-C509-4449-878D-F2569EEA4DE6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52" name="footer-label-7">
            <a:extLst>
              <a:ext uri="{FF2B5EF4-FFF2-40B4-BE49-F238E27FC236}">
                <a16:creationId xmlns="" xmlns:a16="http://schemas.microsoft.com/office/drawing/2014/main" id="{C05740DB-5AC4-4279-9E46-DA4B3C0E9B3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53" name="footer-page-7">
            <a:extLst>
              <a:ext uri="{FF2B5EF4-FFF2-40B4-BE49-F238E27FC236}">
                <a16:creationId xmlns="" xmlns:a16="http://schemas.microsoft.com/office/drawing/2014/main" id="{1524E2B2-DDD2-48DE-8CBC-4C118BAE94CD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1905733"/>
            <a:ext cx="3323492" cy="368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1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7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3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1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33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9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97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1" grpId="0"/>
      <p:bldP spid="14" grpId="0"/>
      <p:bldP spid="17" grpId="0"/>
      <p:bldP spid="20" grpId="0"/>
      <p:bldP spid="22" grpId="0"/>
      <p:bldP spid="23" grpId="0"/>
      <p:bldP spid="47" grpId="0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rand-gold-square">
            <a:extLst>
              <a:ext uri="{FF2B5EF4-FFF2-40B4-BE49-F238E27FC236}">
                <a16:creationId xmlns="" xmlns:a16="http://schemas.microsoft.com/office/drawing/2014/main" id="{213D3FC0-012F-4EB0-A41C-14771BEDA33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5D860A79-0C59-44D1-91C4-D63526FAD007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C656431F-9ACE-4629-BE46-DB2240CEDEE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participation strengthens governance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="" xmlns:a16="http://schemas.microsoft.com/office/drawing/2014/main" id="{AC53D401-D5B8-46E9-A902-1D7F4B5EAD9E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Verified voting and structured organizational workflows support transparent decisions.</a:t>
            </a:r>
          </a:p>
        </p:txBody>
      </p:sp>
      <p:sp>
        <p:nvSpPr>
          <p:cNvPr id="5" name="election-live-tag">
            <a:extLst>
              <a:ext uri="{FF2B5EF4-FFF2-40B4-BE49-F238E27FC236}">
                <a16:creationId xmlns="" xmlns:a16="http://schemas.microsoft.com/office/drawing/2014/main" id="{EC3A9BE7-118D-451C-90F4-E139E4EB9817}"/>
              </a:ext>
            </a:extLst>
          </p:cNvPr>
          <p:cNvSpPr>
            <a:spLocks noGrp="1"/>
          </p:cNvSpPr>
          <p:nvPr/>
        </p:nvSpPr>
        <p:spPr>
          <a:xfrm>
            <a:off x="8401050" y="1724025"/>
            <a:ext cx="3105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RESULTS VIEW • EVOTEGB.COM</a:t>
            </a:r>
          </a:p>
        </p:txBody>
      </p:sp>
      <p:sp>
        <p:nvSpPr>
          <p:cNvPr id="6" name="election-left-header">
            <a:extLst>
              <a:ext uri="{FF2B5EF4-FFF2-40B4-BE49-F238E27FC236}">
                <a16:creationId xmlns="" xmlns:a16="http://schemas.microsoft.com/office/drawing/2014/main" id="{17F22836-5813-4264-9005-66E62D83A79D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7" name="election-left-big">
            <a:extLst>
              <a:ext uri="{FF2B5EF4-FFF2-40B4-BE49-F238E27FC236}">
                <a16:creationId xmlns="" xmlns:a16="http://schemas.microsoft.com/office/drawing/2014/main" id="{7F2CE163-D8BD-4E9B-86C3-977C40E95587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4476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MEMBER.</a:t>
            </a:r>
          </a:p>
          <a:p>
            <a:pPr algn="l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VERIFIED VOTE.</a:t>
            </a:r>
          </a:p>
        </p:txBody>
      </p:sp>
      <p:sp>
        <p:nvSpPr>
          <p:cNvPr id="8" name="election-process-proof">
            <a:extLst>
              <a:ext uri="{FF2B5EF4-FFF2-40B4-BE49-F238E27FC236}">
                <a16:creationId xmlns="" xmlns:a16="http://schemas.microsoft.com/office/drawing/2014/main" id="{9F854181-DFDC-49B4-8E88-905EB6FB6593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EMAIL OTP  •  IDENTITY CHECK  •  BALLOT RECEIPT</a:t>
            </a:r>
          </a:p>
        </p:txBody>
      </p:sp>
      <p:sp>
        <p:nvSpPr>
          <p:cNvPr id="9" name="vote-item-0-disc">
            <a:extLst>
              <a:ext uri="{FF2B5EF4-FFF2-40B4-BE49-F238E27FC236}">
                <a16:creationId xmlns="" xmlns:a16="http://schemas.microsoft.com/office/drawing/2014/main" id="{81BC8F68-AD7C-4429-9D70-F725B18F096A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7cf7a38895c3477a"/>
              </a:ext>
            </a:extLst>
          </a:blip>
          <a:stretch/>
        </p:blipFill>
        <p:spPr>
          <a:xfrm>
            <a:off x="800100" y="3752850"/>
            <a:ext cx="228600" cy="228600"/>
          </a:xfrm>
          <a:prstGeom prst="rect">
            <a:avLst/>
          </a:prstGeom>
        </p:spPr>
      </p:pic>
      <p:sp>
        <p:nvSpPr>
          <p:cNvPr id="11" name="vote-label-0">
            <a:extLst>
              <a:ext uri="{FF2B5EF4-FFF2-40B4-BE49-F238E27FC236}">
                <a16:creationId xmlns="" xmlns:a16="http://schemas.microsoft.com/office/drawing/2014/main" id="{741E6FE9-AB07-4E31-A152-BDD929A12340}"/>
              </a:ext>
            </a:extLst>
          </p:cNvPr>
          <p:cNvSpPr>
            <a:spLocks noGrp="1"/>
          </p:cNvSpPr>
          <p:nvPr/>
        </p:nvSpPr>
        <p:spPr>
          <a:xfrm>
            <a:off x="1276350" y="3629025"/>
            <a:ext cx="154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12" name="vote-item-1-disc">
            <a:extLst>
              <a:ext uri="{FF2B5EF4-FFF2-40B4-BE49-F238E27FC236}">
                <a16:creationId xmlns="" xmlns:a16="http://schemas.microsoft.com/office/drawing/2014/main" id="{AA7CEBC5-849F-4856-B06C-B4D387B759C1}"/>
              </a:ext>
            </a:extLst>
          </p:cNvPr>
          <p:cNvSpPr>
            <a:spLocks noGrp="1"/>
          </p:cNvSpPr>
          <p:nvPr/>
        </p:nvSpPr>
        <p:spPr>
          <a:xfrm>
            <a:off x="2876550" y="3638550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5d21be7ad4564fe8"/>
              </a:ext>
            </a:extLst>
          </a:blip>
          <a:stretch/>
        </p:blipFill>
        <p:spPr>
          <a:xfrm>
            <a:off x="2990850" y="3752850"/>
            <a:ext cx="228600" cy="228600"/>
          </a:xfrm>
          <a:prstGeom prst="rect">
            <a:avLst/>
          </a:prstGeom>
        </p:spPr>
      </p:pic>
      <p:sp>
        <p:nvSpPr>
          <p:cNvPr id="14" name="vote-label-1">
            <a:extLst>
              <a:ext uri="{FF2B5EF4-FFF2-40B4-BE49-F238E27FC236}">
                <a16:creationId xmlns="" xmlns:a16="http://schemas.microsoft.com/office/drawing/2014/main" id="{E3792B7B-D772-4BDC-9CE1-CA1BA5E8EC97}"/>
              </a:ext>
            </a:extLst>
          </p:cNvPr>
          <p:cNvSpPr>
            <a:spLocks noGrp="1"/>
          </p:cNvSpPr>
          <p:nvPr/>
        </p:nvSpPr>
        <p:spPr>
          <a:xfrm>
            <a:off x="3467100" y="3629025"/>
            <a:ext cx="154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OTP Verification</a:t>
            </a:r>
          </a:p>
        </p:txBody>
      </p:sp>
      <p:sp>
        <p:nvSpPr>
          <p:cNvPr id="15" name="vote-item-2-disc">
            <a:extLst>
              <a:ext uri="{FF2B5EF4-FFF2-40B4-BE49-F238E27FC236}">
                <a16:creationId xmlns="" xmlns:a16="http://schemas.microsoft.com/office/drawing/2014/main" id="{EC47AC8E-400D-4D21-BA12-84CB436D93DD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af51153e2aa141e8"/>
              </a:ext>
            </a:extLst>
          </a:blip>
          <a:stretch/>
        </p:blipFill>
        <p:spPr>
          <a:xfrm>
            <a:off x="800100" y="4457700"/>
            <a:ext cx="228600" cy="228600"/>
          </a:xfrm>
          <a:prstGeom prst="rect">
            <a:avLst/>
          </a:prstGeom>
        </p:spPr>
      </p:pic>
      <p:sp>
        <p:nvSpPr>
          <p:cNvPr id="17" name="vote-label-2">
            <a:extLst>
              <a:ext uri="{FF2B5EF4-FFF2-40B4-BE49-F238E27FC236}">
                <a16:creationId xmlns="" xmlns:a16="http://schemas.microsoft.com/office/drawing/2014/main" id="{EADFE62E-678C-4AC1-97C2-9F57333BF19E}"/>
              </a:ext>
            </a:extLst>
          </p:cNvPr>
          <p:cNvSpPr>
            <a:spLocks noGrp="1"/>
          </p:cNvSpPr>
          <p:nvPr/>
        </p:nvSpPr>
        <p:spPr>
          <a:xfrm>
            <a:off x="1276350" y="4333875"/>
            <a:ext cx="154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Vote Prevention</a:t>
            </a:r>
          </a:p>
        </p:txBody>
      </p:sp>
      <p:sp>
        <p:nvSpPr>
          <p:cNvPr id="18" name="vote-item-3-disc">
            <a:extLst>
              <a:ext uri="{FF2B5EF4-FFF2-40B4-BE49-F238E27FC236}">
                <a16:creationId xmlns="" xmlns:a16="http://schemas.microsoft.com/office/drawing/2014/main" id="{4924CDF0-9DA7-4C73-A3C7-39BAE55C769B}"/>
              </a:ext>
            </a:extLst>
          </p:cNvPr>
          <p:cNvSpPr>
            <a:spLocks noGrp="1"/>
          </p:cNvSpPr>
          <p:nvPr/>
        </p:nvSpPr>
        <p:spPr>
          <a:xfrm>
            <a:off x="2876550" y="4343400"/>
            <a:ext cx="457200" cy="457200"/>
          </a:xfrm>
          <a:prstGeom prst="ellipse">
            <a:avLst/>
          </a:prstGeom>
          <a:solidFill>
            <a:srgbClr val="174E3B"/>
          </a:solidFill>
          <a:ln w="0">
            <a:noFill/>
            <a:prstDash val="solid"/>
          </a:ln>
        </p:spPr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679bf839925a4ee7"/>
              </a:ext>
            </a:extLst>
          </a:blip>
          <a:stretch/>
        </p:blipFill>
        <p:spPr>
          <a:xfrm>
            <a:off x="2990850" y="4457700"/>
            <a:ext cx="228600" cy="228600"/>
          </a:xfrm>
          <a:prstGeom prst="rect">
            <a:avLst/>
          </a:prstGeom>
        </p:spPr>
      </p:pic>
      <p:sp>
        <p:nvSpPr>
          <p:cNvPr id="20" name="vote-label-3">
            <a:extLst>
              <a:ext uri="{FF2B5EF4-FFF2-40B4-BE49-F238E27FC236}">
                <a16:creationId xmlns="" xmlns:a16="http://schemas.microsoft.com/office/drawing/2014/main" id="{89013143-1FB1-4DDA-A008-F5CAE7C40779}"/>
              </a:ext>
            </a:extLst>
          </p:cNvPr>
          <p:cNvSpPr>
            <a:spLocks noGrp="1"/>
          </p:cNvSpPr>
          <p:nvPr/>
        </p:nvSpPr>
        <p:spPr>
          <a:xfrm>
            <a:off x="3467100" y="4333875"/>
            <a:ext cx="1543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Results</a:t>
            </a:r>
          </a:p>
        </p:txBody>
      </p:sp>
      <p:sp>
        <p:nvSpPr>
          <p:cNvPr id="21" name="org-left-header">
            <a:extLst>
              <a:ext uri="{FF2B5EF4-FFF2-40B4-BE49-F238E27FC236}">
                <a16:creationId xmlns="" xmlns:a16="http://schemas.microsoft.com/office/drawing/2014/main" id="{07FDBD36-A40B-49FD-8190-FBBF1A74C34D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ORGANIZATIONAL MANAGEMENT</a:t>
            </a:r>
          </a:p>
        </p:txBody>
      </p:sp>
      <p:sp>
        <p:nvSpPr>
          <p:cNvPr id="22" name="org-dot-0">
            <a:extLst>
              <a:ext uri="{FF2B5EF4-FFF2-40B4-BE49-F238E27FC236}">
                <a16:creationId xmlns="" xmlns:a16="http://schemas.microsoft.com/office/drawing/2014/main" id="{AD9442E3-FED1-450B-A2D9-090BFEAAB5C1}"/>
              </a:ext>
            </a:extLst>
          </p:cNvPr>
          <p:cNvSpPr>
            <a:spLocks noGrp="1"/>
          </p:cNvSpPr>
          <p:nvPr/>
        </p:nvSpPr>
        <p:spPr>
          <a:xfrm>
            <a:off x="685800" y="5495925"/>
            <a:ext cx="85725" cy="8572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3" name="org-label-0">
            <a:extLst>
              <a:ext uri="{FF2B5EF4-FFF2-40B4-BE49-F238E27FC236}">
                <a16:creationId xmlns="" xmlns:a16="http://schemas.microsoft.com/office/drawing/2014/main" id="{609B9EAA-7129-4DB3-9036-87433D3D464D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Review</a:t>
            </a:r>
          </a:p>
        </p:txBody>
      </p:sp>
      <p:sp>
        <p:nvSpPr>
          <p:cNvPr id="24" name="org-dot-1">
            <a:extLst>
              <a:ext uri="{FF2B5EF4-FFF2-40B4-BE49-F238E27FC236}">
                <a16:creationId xmlns="" xmlns:a16="http://schemas.microsoft.com/office/drawing/2014/main" id="{ADC2194E-64EB-4E2E-A13F-10E7FEB4255A}"/>
              </a:ext>
            </a:extLst>
          </p:cNvPr>
          <p:cNvSpPr>
            <a:spLocks noGrp="1"/>
          </p:cNvSpPr>
          <p:nvPr/>
        </p:nvSpPr>
        <p:spPr>
          <a:xfrm>
            <a:off x="2200275" y="5495925"/>
            <a:ext cx="85725" cy="8572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5" name="org-label-1">
            <a:extLst>
              <a:ext uri="{FF2B5EF4-FFF2-40B4-BE49-F238E27FC236}">
                <a16:creationId xmlns="" xmlns:a16="http://schemas.microsoft.com/office/drawing/2014/main" id="{E24384FA-8D14-4A22-A0E0-7CBDE0E2AF6A}"/>
              </a:ext>
            </a:extLst>
          </p:cNvPr>
          <p:cNvSpPr>
            <a:spLocks noGrp="1"/>
          </p:cNvSpPr>
          <p:nvPr/>
        </p:nvSpPr>
        <p:spPr>
          <a:xfrm>
            <a:off x="2371725" y="5381625"/>
            <a:ext cx="1219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CEC Management</a:t>
            </a:r>
          </a:p>
        </p:txBody>
      </p:sp>
      <p:sp>
        <p:nvSpPr>
          <p:cNvPr id="26" name="org-dot-2">
            <a:extLst>
              <a:ext uri="{FF2B5EF4-FFF2-40B4-BE49-F238E27FC236}">
                <a16:creationId xmlns="" xmlns:a16="http://schemas.microsoft.com/office/drawing/2014/main" id="{A95B69AB-C36F-43B0-84AE-04585EF7703A}"/>
              </a:ext>
            </a:extLst>
          </p:cNvPr>
          <p:cNvSpPr>
            <a:spLocks noGrp="1"/>
          </p:cNvSpPr>
          <p:nvPr/>
        </p:nvSpPr>
        <p:spPr>
          <a:xfrm>
            <a:off x="3552825" y="5495925"/>
            <a:ext cx="85725" cy="85725"/>
          </a:xfrm>
          <a:prstGeom prst="ellipse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7" name="org-label-2">
            <a:extLst>
              <a:ext uri="{FF2B5EF4-FFF2-40B4-BE49-F238E27FC236}">
                <a16:creationId xmlns="" xmlns:a16="http://schemas.microsoft.com/office/drawing/2014/main" id="{0CAD6C7A-9214-4938-AEF1-4D48B977CAD4}"/>
              </a:ext>
            </a:extLst>
          </p:cNvPr>
          <p:cNvSpPr>
            <a:spLocks noGrp="1"/>
          </p:cNvSpPr>
          <p:nvPr/>
        </p:nvSpPr>
        <p:spPr>
          <a:xfrm>
            <a:off x="3724275" y="53816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28" name="election-results-shadow">
            <a:extLst>
              <a:ext uri="{FF2B5EF4-FFF2-40B4-BE49-F238E27FC236}">
                <a16:creationId xmlns="" xmlns:a16="http://schemas.microsoft.com/office/drawing/2014/main" id="{A075FD8B-1003-4000-B125-7A3ED250567A}"/>
              </a:ext>
            </a:extLst>
          </p:cNvPr>
          <p:cNvSpPr>
            <a:spLocks noGrp="1"/>
          </p:cNvSpPr>
          <p:nvPr/>
        </p:nvSpPr>
        <p:spPr>
          <a:xfrm>
            <a:off x="6076950" y="2114550"/>
            <a:ext cx="5429250" cy="3943350"/>
          </a:xfrm>
          <a:prstGeom prst="roundRect">
            <a:avLst>
              <a:gd name="adj" fmla="val 4348"/>
            </a:avLst>
          </a:prstGeom>
          <a:solidFill>
            <a:srgbClr val="000000">
              <a:alpha val="15686"/>
            </a:srgbClr>
          </a:solidFill>
          <a:ln w="0">
            <a:noFill/>
            <a:prstDash val="solid"/>
          </a:ln>
        </p:spPr>
      </p:sp>
      <p:sp>
        <p:nvSpPr>
          <p:cNvPr id="29" name="election-results-frame">
            <a:extLst>
              <a:ext uri="{FF2B5EF4-FFF2-40B4-BE49-F238E27FC236}">
                <a16:creationId xmlns="" xmlns:a16="http://schemas.microsoft.com/office/drawing/2014/main" id="{D3C93BCF-38F8-460F-9DDF-C19951505408}"/>
              </a:ext>
            </a:extLst>
          </p:cNvPr>
          <p:cNvSpPr>
            <a:spLocks noGrp="1"/>
          </p:cNvSpPr>
          <p:nvPr/>
        </p:nvSpPr>
        <p:spPr>
          <a:xfrm>
            <a:off x="5962650" y="2000250"/>
            <a:ext cx="5543550" cy="39433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C6A15B"/>
            </a:solidFill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8417" y="2133600"/>
            <a:ext cx="5012016" cy="3676650"/>
          </a:xfrm>
          <a:prstGeom prst="rect">
            <a:avLst/>
          </a:prstGeom>
        </p:spPr>
      </p:pic>
      <p:sp>
        <p:nvSpPr>
          <p:cNvPr id="31" name="footer-rule-8">
            <a:extLst>
              <a:ext uri="{FF2B5EF4-FFF2-40B4-BE49-F238E27FC236}">
                <a16:creationId xmlns="" xmlns:a16="http://schemas.microsoft.com/office/drawing/2014/main" id="{80EE88DB-6186-472D-8221-139BD0477324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32" name="footer-label-8">
            <a:extLst>
              <a:ext uri="{FF2B5EF4-FFF2-40B4-BE49-F238E27FC236}">
                <a16:creationId xmlns="" xmlns:a16="http://schemas.microsoft.com/office/drawing/2014/main" id="{AB2516C3-296C-4509-BAB7-9BC3526F3AC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3" name="footer-page-8">
            <a:extLst>
              <a:ext uri="{FF2B5EF4-FFF2-40B4-BE49-F238E27FC236}">
                <a16:creationId xmlns="" xmlns:a16="http://schemas.microsoft.com/office/drawing/2014/main" id="{2231F500-9980-41C4-B986-3127AFAAB0E1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3329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8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7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7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7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6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7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0"/>
                            </p:stCondLst>
                            <p:childTnLst>
                              <p:par>
                                <p:cTn id="38" presetID="2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48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7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8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7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8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7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11" grpId="0"/>
      <p:bldP spid="14" grpId="0"/>
      <p:bldP spid="17" grpId="0"/>
      <p:bldP spid="20" grpId="0"/>
      <p:bldP spid="23" grpId="0"/>
      <p:bldP spid="25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rand-gold-square">
            <a:extLst>
              <a:ext uri="{FF2B5EF4-FFF2-40B4-BE49-F238E27FC236}">
                <a16:creationId xmlns="" xmlns:a16="http://schemas.microsoft.com/office/drawing/2014/main" id="{384BAEE5-0055-446B-9E39-09576D0C267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499C9B67-610F-4F76-92A6-DD1DD8AA3323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939CDE05-C9F6-4388-A7F8-D4D01730A7A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 value grows with every interaction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="" xmlns:a16="http://schemas.microsoft.com/office/drawing/2014/main" id="{83F7A618-8E2E-4FED-8D69-A1182B8013A4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Identity, services, communication and opportunity come together in one place.</a:t>
            </a:r>
          </a:p>
        </p:txBody>
      </p:sp>
      <p:sp>
        <p:nvSpPr>
          <p:cNvPr id="5" name="benefit-left-link-0">
            <a:extLst>
              <a:ext uri="{FF2B5EF4-FFF2-40B4-BE49-F238E27FC236}">
                <a16:creationId xmlns="" xmlns:a16="http://schemas.microsoft.com/office/drawing/2014/main" id="{2E65A2E3-40A6-48C6-A44A-D6824823D82F}"/>
              </a:ext>
            </a:extLst>
          </p:cNvPr>
          <p:cNvSpPr>
            <a:spLocks noGrp="1"/>
          </p:cNvSpPr>
          <p:nvPr/>
        </p:nvSpPr>
        <p:spPr>
          <a:xfrm>
            <a:off x="3543300" y="251460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6" name="benefit-left-link-1">
            <a:extLst>
              <a:ext uri="{FF2B5EF4-FFF2-40B4-BE49-F238E27FC236}">
                <a16:creationId xmlns="" xmlns:a16="http://schemas.microsoft.com/office/drawing/2014/main" id="{4DE1CAD7-7B62-43F1-A567-5159B37693AC}"/>
              </a:ext>
            </a:extLst>
          </p:cNvPr>
          <p:cNvSpPr>
            <a:spLocks noGrp="1"/>
          </p:cNvSpPr>
          <p:nvPr/>
        </p:nvSpPr>
        <p:spPr>
          <a:xfrm>
            <a:off x="3543300" y="340995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7" name="benefit-left-link-2">
            <a:extLst>
              <a:ext uri="{FF2B5EF4-FFF2-40B4-BE49-F238E27FC236}">
                <a16:creationId xmlns="" xmlns:a16="http://schemas.microsoft.com/office/drawing/2014/main" id="{A731921D-6F22-48B4-A4BD-B35AEAACC3CC}"/>
              </a:ext>
            </a:extLst>
          </p:cNvPr>
          <p:cNvSpPr>
            <a:spLocks noGrp="1"/>
          </p:cNvSpPr>
          <p:nvPr/>
        </p:nvSpPr>
        <p:spPr>
          <a:xfrm>
            <a:off x="3543300" y="430530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8" name="benefit-left-link-3">
            <a:extLst>
              <a:ext uri="{FF2B5EF4-FFF2-40B4-BE49-F238E27FC236}">
                <a16:creationId xmlns="" xmlns:a16="http://schemas.microsoft.com/office/drawing/2014/main" id="{47F6A968-EEA4-4990-A90C-FE47A7341CD6}"/>
              </a:ext>
            </a:extLst>
          </p:cNvPr>
          <p:cNvSpPr>
            <a:spLocks noGrp="1"/>
          </p:cNvSpPr>
          <p:nvPr/>
        </p:nvSpPr>
        <p:spPr>
          <a:xfrm>
            <a:off x="3543300" y="5200650"/>
            <a:ext cx="120015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9" name="benefit-right-link-0">
            <a:extLst>
              <a:ext uri="{FF2B5EF4-FFF2-40B4-BE49-F238E27FC236}">
                <a16:creationId xmlns="" xmlns:a16="http://schemas.microsoft.com/office/drawing/2014/main" id="{06152927-153B-4FC4-AF51-5616B2AF9416}"/>
              </a:ext>
            </a:extLst>
          </p:cNvPr>
          <p:cNvSpPr>
            <a:spLocks noGrp="1"/>
          </p:cNvSpPr>
          <p:nvPr/>
        </p:nvSpPr>
        <p:spPr>
          <a:xfrm>
            <a:off x="7315200" y="251460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0" name="benefit-right-link-1">
            <a:extLst>
              <a:ext uri="{FF2B5EF4-FFF2-40B4-BE49-F238E27FC236}">
                <a16:creationId xmlns="" xmlns:a16="http://schemas.microsoft.com/office/drawing/2014/main" id="{9B1FE38A-6347-4352-826F-56BBEA2E9B27}"/>
              </a:ext>
            </a:extLst>
          </p:cNvPr>
          <p:cNvSpPr>
            <a:spLocks noGrp="1"/>
          </p:cNvSpPr>
          <p:nvPr/>
        </p:nvSpPr>
        <p:spPr>
          <a:xfrm>
            <a:off x="7315200" y="340995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1" name="benefit-right-link-2">
            <a:extLst>
              <a:ext uri="{FF2B5EF4-FFF2-40B4-BE49-F238E27FC236}">
                <a16:creationId xmlns="" xmlns:a16="http://schemas.microsoft.com/office/drawing/2014/main" id="{C49B82FF-A91C-4A80-A33E-039136847D66}"/>
              </a:ext>
            </a:extLst>
          </p:cNvPr>
          <p:cNvSpPr>
            <a:spLocks noGrp="1"/>
          </p:cNvSpPr>
          <p:nvPr/>
        </p:nvSpPr>
        <p:spPr>
          <a:xfrm>
            <a:off x="7315200" y="430530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2" name="benefit-right-link-3">
            <a:extLst>
              <a:ext uri="{FF2B5EF4-FFF2-40B4-BE49-F238E27FC236}">
                <a16:creationId xmlns="" xmlns:a16="http://schemas.microsoft.com/office/drawing/2014/main" id="{B0A7491D-5FD6-4441-90C7-3225888E19D8}"/>
              </a:ext>
            </a:extLst>
          </p:cNvPr>
          <p:cNvSpPr>
            <a:spLocks noGrp="1"/>
          </p:cNvSpPr>
          <p:nvPr/>
        </p:nvSpPr>
        <p:spPr>
          <a:xfrm>
            <a:off x="7315200" y="5200650"/>
            <a:ext cx="1333500" cy="0"/>
          </a:xfrm>
          <a:prstGeom prst="line">
            <a:avLst/>
          </a:prstGeom>
          <a:noFill/>
          <a:ln w="19050">
            <a:solidFill>
              <a:srgbClr val="E8D6AB"/>
            </a:solidFill>
            <a:prstDash val="solid"/>
          </a:ln>
        </p:spPr>
      </p:sp>
      <p:sp>
        <p:nvSpPr>
          <p:cNvPr id="13" name="benefit-core-shadow">
            <a:extLst>
              <a:ext uri="{FF2B5EF4-FFF2-40B4-BE49-F238E27FC236}">
                <a16:creationId xmlns="" xmlns:a16="http://schemas.microsoft.com/office/drawing/2014/main" id="{39732738-5737-43A3-99D9-50436C68F378}"/>
              </a:ext>
            </a:extLst>
          </p:cNvPr>
          <p:cNvSpPr>
            <a:spLocks noGrp="1"/>
          </p:cNvSpPr>
          <p:nvPr/>
        </p:nvSpPr>
        <p:spPr>
          <a:xfrm>
            <a:off x="4743450" y="2533650"/>
            <a:ext cx="2705100" cy="2705100"/>
          </a:xfrm>
          <a:prstGeom prst="ellipse">
            <a:avLst/>
          </a:prstGeom>
          <a:solidFill>
            <a:srgbClr val="000000">
              <a:alpha val="7059"/>
            </a:srgbClr>
          </a:solidFill>
          <a:ln w="0">
            <a:noFill/>
            <a:prstDash val="solid"/>
          </a:ln>
        </p:spPr>
      </p:sp>
      <p:sp>
        <p:nvSpPr>
          <p:cNvPr id="14" name="benefit-core">
            <a:extLst>
              <a:ext uri="{FF2B5EF4-FFF2-40B4-BE49-F238E27FC236}">
                <a16:creationId xmlns="" xmlns:a16="http://schemas.microsoft.com/office/drawing/2014/main" id="{675FE2D8-098E-4EC6-932E-D93926246E8C}"/>
              </a:ext>
            </a:extLst>
          </p:cNvPr>
          <p:cNvSpPr>
            <a:spLocks noGrp="1"/>
          </p:cNvSpPr>
          <p:nvPr/>
        </p:nvSpPr>
        <p:spPr>
          <a:xfrm>
            <a:off x="4610100" y="2400300"/>
            <a:ext cx="2705100" cy="2705100"/>
          </a:xfrm>
          <a:prstGeom prst="ellipse">
            <a:avLst/>
          </a:prstGeom>
          <a:solidFill>
            <a:srgbClr val="0D3B2E"/>
          </a:solidFill>
          <a:ln w="38100">
            <a:solidFill>
              <a:srgbClr val="C6A15B"/>
            </a:solidFill>
            <a:prstDash val="solid"/>
          </a:ln>
        </p:spPr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43590df06e874821"/>
              </a:ext>
            </a:extLst>
          </a:blip>
          <a:stretch/>
        </p:blipFill>
        <p:spPr>
          <a:xfrm>
            <a:off x="5638800" y="2895600"/>
            <a:ext cx="647700" cy="647700"/>
          </a:xfrm>
          <a:prstGeom prst="rect">
            <a:avLst/>
          </a:prstGeom>
        </p:spPr>
      </p:pic>
      <p:sp>
        <p:nvSpPr>
          <p:cNvPr id="16" name="benefit-core-label">
            <a:extLst>
              <a:ext uri="{FF2B5EF4-FFF2-40B4-BE49-F238E27FC236}">
                <a16:creationId xmlns="" xmlns:a16="http://schemas.microsoft.com/office/drawing/2014/main" id="{3651D704-E73B-4424-8026-1FFC0FB3FFA9}"/>
              </a:ext>
            </a:extLst>
          </p:cNvPr>
          <p:cNvSpPr>
            <a:spLocks noGrp="1"/>
          </p:cNvSpPr>
          <p:nvPr/>
        </p:nvSpPr>
        <p:spPr>
          <a:xfrm>
            <a:off x="5238750" y="3714750"/>
            <a:ext cx="14478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7" name="benefit-core-copy">
            <a:extLst>
              <a:ext uri="{FF2B5EF4-FFF2-40B4-BE49-F238E27FC236}">
                <a16:creationId xmlns="" xmlns:a16="http://schemas.microsoft.com/office/drawing/2014/main" id="{A76612E5-E28E-4180-B30D-9C120285B69B}"/>
              </a:ext>
            </a:extLst>
          </p:cNvPr>
          <p:cNvSpPr>
            <a:spLocks noGrp="1"/>
          </p:cNvSpPr>
          <p:nvPr/>
        </p:nvSpPr>
        <p:spPr>
          <a:xfrm>
            <a:off x="4953000" y="4552950"/>
            <a:ext cx="2019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18" name="benefit-left-box-0">
            <a:extLst>
              <a:ext uri="{FF2B5EF4-FFF2-40B4-BE49-F238E27FC236}">
                <a16:creationId xmlns="" xmlns:a16="http://schemas.microsoft.com/office/drawing/2014/main" id="{C855FBCD-9194-4FA3-8F78-4EF1DE3730A1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102b4636418e4b05"/>
              </a:ext>
            </a:extLst>
          </a:blip>
          <a:stretch/>
        </p:blipFill>
        <p:spPr>
          <a:xfrm>
            <a:off x="876300" y="2381250"/>
            <a:ext cx="266700" cy="266700"/>
          </a:xfrm>
          <a:prstGeom prst="rect">
            <a:avLst/>
          </a:prstGeom>
        </p:spPr>
      </p:pic>
      <p:sp>
        <p:nvSpPr>
          <p:cNvPr id="20" name="benefit-left-label-0">
            <a:extLst>
              <a:ext uri="{FF2B5EF4-FFF2-40B4-BE49-F238E27FC236}">
                <a16:creationId xmlns="" xmlns:a16="http://schemas.microsoft.com/office/drawing/2014/main" id="{24CE0F47-D1BF-45DF-BA5C-86A8C7764C35}"/>
              </a:ext>
            </a:extLst>
          </p:cNvPr>
          <p:cNvSpPr>
            <a:spLocks noGrp="1"/>
          </p:cNvSpPr>
          <p:nvPr/>
        </p:nvSpPr>
        <p:spPr>
          <a:xfrm>
            <a:off x="1295400" y="22383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Identity</a:t>
            </a:r>
          </a:p>
        </p:txBody>
      </p:sp>
      <p:sp>
        <p:nvSpPr>
          <p:cNvPr id="21" name="benefit-left-box-1">
            <a:extLst>
              <a:ext uri="{FF2B5EF4-FFF2-40B4-BE49-F238E27FC236}">
                <a16:creationId xmlns="" xmlns:a16="http://schemas.microsoft.com/office/drawing/2014/main" id="{AC1F857D-ACC9-438C-9A96-B5F011BC297F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059c3f7b9ba242b9"/>
              </a:ext>
            </a:extLst>
          </a:blip>
          <a:stretch/>
        </p:blipFill>
        <p:spPr>
          <a:xfrm>
            <a:off x="876300" y="3276600"/>
            <a:ext cx="266700" cy="266700"/>
          </a:xfrm>
          <a:prstGeom prst="rect">
            <a:avLst/>
          </a:prstGeom>
        </p:spPr>
      </p:pic>
      <p:sp>
        <p:nvSpPr>
          <p:cNvPr id="23" name="benefit-left-label-1">
            <a:extLst>
              <a:ext uri="{FF2B5EF4-FFF2-40B4-BE49-F238E27FC236}">
                <a16:creationId xmlns="" xmlns:a16="http://schemas.microsoft.com/office/drawing/2014/main" id="{ABA124CA-3032-4AA9-A989-87FC0C918E8C}"/>
              </a:ext>
            </a:extLst>
          </p:cNvPr>
          <p:cNvSpPr>
            <a:spLocks noGrp="1"/>
          </p:cNvSpPr>
          <p:nvPr/>
        </p:nvSpPr>
        <p:spPr>
          <a:xfrm>
            <a:off x="1295400" y="31337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Verified Membership</a:t>
            </a:r>
          </a:p>
        </p:txBody>
      </p:sp>
      <p:sp>
        <p:nvSpPr>
          <p:cNvPr id="24" name="benefit-left-box-2">
            <a:extLst>
              <a:ext uri="{FF2B5EF4-FFF2-40B4-BE49-F238E27FC236}">
                <a16:creationId xmlns="" xmlns:a16="http://schemas.microsoft.com/office/drawing/2014/main" id="{44B506D5-5646-40EE-8830-92913C105F1E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f202d239f95e4c97"/>
              </a:ext>
            </a:extLst>
          </a:blip>
          <a:stretch/>
        </p:blipFill>
        <p:spPr>
          <a:xfrm>
            <a:off x="876300" y="4171950"/>
            <a:ext cx="266700" cy="266700"/>
          </a:xfrm>
          <a:prstGeom prst="rect">
            <a:avLst/>
          </a:prstGeom>
        </p:spPr>
      </p:pic>
      <p:sp>
        <p:nvSpPr>
          <p:cNvPr id="26" name="benefit-left-label-2">
            <a:extLst>
              <a:ext uri="{FF2B5EF4-FFF2-40B4-BE49-F238E27FC236}">
                <a16:creationId xmlns="" xmlns:a16="http://schemas.microsoft.com/office/drawing/2014/main" id="{04A09A2C-A828-4D21-9FF6-A83180552F7A}"/>
              </a:ext>
            </a:extLst>
          </p:cNvPr>
          <p:cNvSpPr>
            <a:spLocks noGrp="1"/>
          </p:cNvSpPr>
          <p:nvPr/>
        </p:nvSpPr>
        <p:spPr>
          <a:xfrm>
            <a:off x="1295400" y="40290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Easy Access to Services</a:t>
            </a:r>
          </a:p>
        </p:txBody>
      </p:sp>
      <p:sp>
        <p:nvSpPr>
          <p:cNvPr id="27" name="benefit-left-box-3">
            <a:extLst>
              <a:ext uri="{FF2B5EF4-FFF2-40B4-BE49-F238E27FC236}">
                <a16:creationId xmlns="" xmlns:a16="http://schemas.microsoft.com/office/drawing/2014/main" id="{18C78646-2FD3-4C51-83DD-F75FCC1C180C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d9c3264eeab54fbf"/>
              </a:ext>
            </a:extLst>
          </a:blip>
          <a:stretch/>
        </p:blipFill>
        <p:spPr>
          <a:xfrm>
            <a:off x="876300" y="5067300"/>
            <a:ext cx="266700" cy="266700"/>
          </a:xfrm>
          <a:prstGeom prst="rect">
            <a:avLst/>
          </a:prstGeom>
        </p:spPr>
      </p:pic>
      <p:sp>
        <p:nvSpPr>
          <p:cNvPr id="29" name="benefit-left-label-3">
            <a:extLst>
              <a:ext uri="{FF2B5EF4-FFF2-40B4-BE49-F238E27FC236}">
                <a16:creationId xmlns="" xmlns:a16="http://schemas.microsoft.com/office/drawing/2014/main" id="{7C674814-F615-4E91-843E-9AB65910967E}"/>
              </a:ext>
            </a:extLst>
          </p:cNvPr>
          <p:cNvSpPr>
            <a:spLocks noGrp="1"/>
          </p:cNvSpPr>
          <p:nvPr/>
        </p:nvSpPr>
        <p:spPr>
          <a:xfrm>
            <a:off x="1295400" y="49244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30" name="benefit-right-box-0">
            <a:extLst>
              <a:ext uri="{FF2B5EF4-FFF2-40B4-BE49-F238E27FC236}">
                <a16:creationId xmlns="" xmlns:a16="http://schemas.microsoft.com/office/drawing/2014/main" id="{06C4B41E-FCA2-41F3-BA9D-57EA8F1C1A49}"/>
              </a:ext>
            </a:extLst>
          </p:cNvPr>
          <p:cNvSpPr>
            <a:spLocks noGrp="1"/>
          </p:cNvSpPr>
          <p:nvPr/>
        </p:nvSpPr>
        <p:spPr>
          <a:xfrm>
            <a:off x="8648700" y="22383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3ecc633f67174f69"/>
              </a:ext>
            </a:extLst>
          </a:blip>
          <a:stretch/>
        </p:blipFill>
        <p:spPr>
          <a:xfrm>
            <a:off x="8839200" y="2381250"/>
            <a:ext cx="266700" cy="266700"/>
          </a:xfrm>
          <a:prstGeom prst="rect">
            <a:avLst/>
          </a:prstGeom>
        </p:spPr>
      </p:pic>
      <p:sp>
        <p:nvSpPr>
          <p:cNvPr id="32" name="benefit-right-label-0">
            <a:extLst>
              <a:ext uri="{FF2B5EF4-FFF2-40B4-BE49-F238E27FC236}">
                <a16:creationId xmlns="" xmlns:a16="http://schemas.microsoft.com/office/drawing/2014/main" id="{13D5B0C5-5245-4C63-988D-64DCCE0D7D12}"/>
              </a:ext>
            </a:extLst>
          </p:cNvPr>
          <p:cNvSpPr>
            <a:spLocks noGrp="1"/>
          </p:cNvSpPr>
          <p:nvPr/>
        </p:nvSpPr>
        <p:spPr>
          <a:xfrm>
            <a:off x="9258300" y="22383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Better Communication</a:t>
            </a:r>
          </a:p>
        </p:txBody>
      </p:sp>
      <p:sp>
        <p:nvSpPr>
          <p:cNvPr id="33" name="benefit-right-box-1">
            <a:extLst>
              <a:ext uri="{FF2B5EF4-FFF2-40B4-BE49-F238E27FC236}">
                <a16:creationId xmlns="" xmlns:a16="http://schemas.microsoft.com/office/drawing/2014/main" id="{84F0A937-A41C-4236-B7C2-03D2B47A75D4}"/>
              </a:ext>
            </a:extLst>
          </p:cNvPr>
          <p:cNvSpPr>
            <a:spLocks noGrp="1"/>
          </p:cNvSpPr>
          <p:nvPr/>
        </p:nvSpPr>
        <p:spPr>
          <a:xfrm>
            <a:off x="8648700" y="31337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70f955d929d046c6"/>
              </a:ext>
            </a:extLst>
          </a:blip>
          <a:stretch/>
        </p:blipFill>
        <p:spPr>
          <a:xfrm>
            <a:off x="8839200" y="3276600"/>
            <a:ext cx="266700" cy="266700"/>
          </a:xfrm>
          <a:prstGeom prst="rect">
            <a:avLst/>
          </a:prstGeom>
        </p:spPr>
      </p:pic>
      <p:sp>
        <p:nvSpPr>
          <p:cNvPr id="35" name="benefit-right-label-1">
            <a:extLst>
              <a:ext uri="{FF2B5EF4-FFF2-40B4-BE49-F238E27FC236}">
                <a16:creationId xmlns="" xmlns:a16="http://schemas.microsoft.com/office/drawing/2014/main" id="{A2CE213A-0090-42CD-A3FA-A3886DB2DD9D}"/>
              </a:ext>
            </a:extLst>
          </p:cNvPr>
          <p:cNvSpPr>
            <a:spLocks noGrp="1"/>
          </p:cNvSpPr>
          <p:nvPr/>
        </p:nvSpPr>
        <p:spPr>
          <a:xfrm>
            <a:off x="9258300" y="31337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6" name="benefit-right-box-2">
            <a:extLst>
              <a:ext uri="{FF2B5EF4-FFF2-40B4-BE49-F238E27FC236}">
                <a16:creationId xmlns="" xmlns:a16="http://schemas.microsoft.com/office/drawing/2014/main" id="{D5FEAB1E-8329-4AC0-9B97-80CDA4424D98}"/>
              </a:ext>
            </a:extLst>
          </p:cNvPr>
          <p:cNvSpPr>
            <a:spLocks noGrp="1"/>
          </p:cNvSpPr>
          <p:nvPr/>
        </p:nvSpPr>
        <p:spPr>
          <a:xfrm>
            <a:off x="8648700" y="402907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8ca4281118284080"/>
              </a:ext>
            </a:extLst>
          </a:blip>
          <a:stretch/>
        </p:blipFill>
        <p:spPr>
          <a:xfrm>
            <a:off x="8839200" y="4171950"/>
            <a:ext cx="266700" cy="266700"/>
          </a:xfrm>
          <a:prstGeom prst="rect">
            <a:avLst/>
          </a:prstGeom>
        </p:spPr>
      </p:pic>
      <p:sp>
        <p:nvSpPr>
          <p:cNvPr id="38" name="benefit-right-label-2">
            <a:extLst>
              <a:ext uri="{FF2B5EF4-FFF2-40B4-BE49-F238E27FC236}">
                <a16:creationId xmlns="" xmlns:a16="http://schemas.microsoft.com/office/drawing/2014/main" id="{AB8D123C-1F47-4A91-B95C-5D7E7228CC3A}"/>
              </a:ext>
            </a:extLst>
          </p:cNvPr>
          <p:cNvSpPr>
            <a:spLocks noGrp="1"/>
          </p:cNvSpPr>
          <p:nvPr/>
        </p:nvSpPr>
        <p:spPr>
          <a:xfrm>
            <a:off x="9258300" y="402907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Global Networking</a:t>
            </a:r>
          </a:p>
        </p:txBody>
      </p:sp>
      <p:sp>
        <p:nvSpPr>
          <p:cNvPr id="39" name="benefit-right-box-3">
            <a:extLst>
              <a:ext uri="{FF2B5EF4-FFF2-40B4-BE49-F238E27FC236}">
                <a16:creationId xmlns="" xmlns:a16="http://schemas.microsoft.com/office/drawing/2014/main" id="{D9A61A43-5395-4128-891B-DE861A9993E4}"/>
              </a:ext>
            </a:extLst>
          </p:cNvPr>
          <p:cNvSpPr>
            <a:spLocks noGrp="1"/>
          </p:cNvSpPr>
          <p:nvPr/>
        </p:nvSpPr>
        <p:spPr>
          <a:xfrm>
            <a:off x="8648700" y="4924425"/>
            <a:ext cx="28575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9525">
            <a:solidFill>
              <a:srgbClr val="DADDD7"/>
            </a:solidFill>
            <a:prstDash val="solid"/>
          </a:ln>
        </p:spPr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4bed8a39041d4051"/>
              </a:ext>
            </a:extLst>
          </a:blip>
          <a:stretch/>
        </p:blipFill>
        <p:spPr>
          <a:xfrm>
            <a:off x="8839200" y="5067300"/>
            <a:ext cx="266700" cy="266700"/>
          </a:xfrm>
          <a:prstGeom prst="rect">
            <a:avLst/>
          </a:prstGeom>
        </p:spPr>
      </p:pic>
      <p:sp>
        <p:nvSpPr>
          <p:cNvPr id="41" name="benefit-right-label-3">
            <a:extLst>
              <a:ext uri="{FF2B5EF4-FFF2-40B4-BE49-F238E27FC236}">
                <a16:creationId xmlns="" xmlns:a16="http://schemas.microsoft.com/office/drawing/2014/main" id="{8174CE5E-C244-4EE6-9098-1DED08510443}"/>
              </a:ext>
            </a:extLst>
          </p:cNvPr>
          <p:cNvSpPr>
            <a:spLocks noGrp="1"/>
          </p:cNvSpPr>
          <p:nvPr/>
        </p:nvSpPr>
        <p:spPr>
          <a:xfrm>
            <a:off x="9258300" y="4924425"/>
            <a:ext cx="2047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Opportunities</a:t>
            </a:r>
          </a:p>
        </p:txBody>
      </p:sp>
      <p:sp>
        <p:nvSpPr>
          <p:cNvPr id="42" name="footer-rule-9">
            <a:extLst>
              <a:ext uri="{FF2B5EF4-FFF2-40B4-BE49-F238E27FC236}">
                <a16:creationId xmlns="" xmlns:a16="http://schemas.microsoft.com/office/drawing/2014/main" id="{30BCA369-D05A-401F-A96C-C4657089DFE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DADDD7"/>
            </a:solidFill>
            <a:prstDash val="solid"/>
          </a:ln>
        </p:spPr>
      </p:sp>
      <p:sp>
        <p:nvSpPr>
          <p:cNvPr id="43" name="footer-label-9">
            <a:extLst>
              <a:ext uri="{FF2B5EF4-FFF2-40B4-BE49-F238E27FC236}">
                <a16:creationId xmlns="" xmlns:a16="http://schemas.microsoft.com/office/drawing/2014/main" id="{B0C359C1-16DC-4FF7-96CB-F4741A656F5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4" name="footer-page-9">
            <a:extLst>
              <a:ext uri="{FF2B5EF4-FFF2-40B4-BE49-F238E27FC236}">
                <a16:creationId xmlns="" xmlns:a16="http://schemas.microsoft.com/office/drawing/2014/main" id="{2DC3D96B-D336-4FF3-A4C8-18889FD63B2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927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9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8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7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66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9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4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3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6" grpId="0"/>
      <p:bldP spid="20" grpId="0"/>
      <p:bldP spid="23" grpId="0"/>
      <p:bldP spid="26" grpId="0"/>
      <p:bldP spid="29" grpId="0"/>
      <p:bldP spid="32" grpId="0"/>
      <p:bldP spid="35" grpId="0"/>
      <p:bldP spid="38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rand-gold-square">
            <a:extLst>
              <a:ext uri="{FF2B5EF4-FFF2-40B4-BE49-F238E27FC236}">
                <a16:creationId xmlns="" xmlns:a16="http://schemas.microsoft.com/office/drawing/2014/main" id="{6AFE91BC-386F-4B5F-8BB2-3C7B951E00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5250" cy="95250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2" name="brand-tag">
            <a:extLst>
              <a:ext uri="{FF2B5EF4-FFF2-40B4-BE49-F238E27FC236}">
                <a16:creationId xmlns="" xmlns:a16="http://schemas.microsoft.com/office/drawing/2014/main" id="{B4DB19B2-8EA3-44AF-86E6-58E6550614B8}"/>
              </a:ext>
            </a:extLst>
          </p:cNvPr>
          <p:cNvSpPr>
            <a:spLocks noGrp="1"/>
          </p:cNvSpPr>
          <p:nvPr/>
        </p:nvSpPr>
        <p:spPr>
          <a:xfrm>
            <a:off x="895350" y="342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="" xmlns:a16="http://schemas.microsoft.com/office/drawing/2014/main" id="{3BB4A6C2-5245-4291-931C-063AFA71D65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Thirty </a:t>
            </a:r>
            <a:r>
              <a:rPr lang="en-US" sz="2700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</a:t>
            </a:r>
            <a:r>
              <a:rPr sz="2700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lanned </a:t>
            </a:r>
            <a:r>
              <a:rPr lang="en-US" sz="27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</a:t>
            </a:r>
            <a:r>
              <a:rPr sz="2700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odules </a:t>
            </a:r>
            <a:r>
              <a:rPr lang="en-US" sz="27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</a:t>
            </a:r>
            <a:r>
              <a:rPr sz="2700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efine </a:t>
            </a:r>
            <a:r>
              <a:rPr lang="en-US" sz="27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</a:t>
            </a:r>
            <a:r>
              <a:rPr sz="2700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 </a:t>
            </a:r>
            <a:r>
              <a:rPr lang="en-US" sz="27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</a:t>
            </a:r>
            <a:r>
              <a:rPr sz="2700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ext </a:t>
            </a:r>
            <a:r>
              <a:rPr sz="2700" b="1" i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</a:t>
            </a:r>
            <a:r>
              <a:rPr lang="en-US" sz="2700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</a:t>
            </a:r>
            <a:r>
              <a:rPr sz="2700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cosystem</a:t>
            </a:r>
            <a:endParaRPr sz="2700" b="1" i="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slide-subtitle">
            <a:extLst>
              <a:ext uri="{FF2B5EF4-FFF2-40B4-BE49-F238E27FC236}">
                <a16:creationId xmlns="" xmlns:a16="http://schemas.microsoft.com/office/drawing/2014/main" id="{8FFC850E-A06F-43A6-9B87-725CF90F317B}"/>
              </a:ext>
            </a:extLst>
          </p:cNvPr>
          <p:cNvSpPr>
            <a:spLocks noGrp="1"/>
          </p:cNvSpPr>
          <p:nvPr/>
        </p:nvSpPr>
        <p:spPr>
          <a:xfrm>
            <a:off x="685800" y="1343025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The roadmap expands opportunity, inclusion, resilience, learning and participation.</a:t>
            </a:r>
          </a:p>
        </p:txBody>
      </p:sp>
      <p:sp>
        <p:nvSpPr>
          <p:cNvPr id="5" name="upcoming-divider-0">
            <a:extLst>
              <a:ext uri="{FF2B5EF4-FFF2-40B4-BE49-F238E27FC236}">
                <a16:creationId xmlns="" xmlns:a16="http://schemas.microsoft.com/office/drawing/2014/main" id="{AEF66C0C-FB96-45CC-A73E-98822E112F0A}"/>
              </a:ext>
            </a:extLst>
          </p:cNvPr>
          <p:cNvSpPr>
            <a:spLocks noGrp="1"/>
          </p:cNvSpPr>
          <p:nvPr/>
        </p:nvSpPr>
        <p:spPr>
          <a:xfrm>
            <a:off x="4143375" y="2009775"/>
            <a:ext cx="0" cy="4029075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6" name="upcoming-divider-1">
            <a:extLst>
              <a:ext uri="{FF2B5EF4-FFF2-40B4-BE49-F238E27FC236}">
                <a16:creationId xmlns="" xmlns:a16="http://schemas.microsoft.com/office/drawing/2014/main" id="{19023DDB-1B2E-4CD5-BDC6-F17F7B90D0A9}"/>
              </a:ext>
            </a:extLst>
          </p:cNvPr>
          <p:cNvSpPr>
            <a:spLocks noGrp="1"/>
          </p:cNvSpPr>
          <p:nvPr/>
        </p:nvSpPr>
        <p:spPr>
          <a:xfrm>
            <a:off x="7829550" y="2009775"/>
            <a:ext cx="0" cy="4029075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7" name="upcoming-column-header-0">
            <a:extLst>
              <a:ext uri="{FF2B5EF4-FFF2-40B4-BE49-F238E27FC236}">
                <a16:creationId xmlns="" xmlns:a16="http://schemas.microsoft.com/office/drawing/2014/main" id="{2E37A6FF-6FE5-4C1A-AEFB-D42F3DF98845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COMMUNITY &amp; SERVICES</a:t>
            </a:r>
          </a:p>
        </p:txBody>
      </p:sp>
      <p:sp>
        <p:nvSpPr>
          <p:cNvPr id="8" name="upcoming-column-rule-0">
            <a:extLst>
              <a:ext uri="{FF2B5EF4-FFF2-40B4-BE49-F238E27FC236}">
                <a16:creationId xmlns="" xmlns:a16="http://schemas.microsoft.com/office/drawing/2014/main" id="{6A4538CF-8D87-45F7-AFDB-7ED337E27069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3162300" cy="0"/>
          </a:xfrm>
          <a:prstGeom prst="line">
            <a:avLst/>
          </a:prstGeom>
          <a:noFill/>
          <a:ln w="19050">
            <a:solidFill>
              <a:srgbClr val="C6A15B"/>
            </a:solidFill>
            <a:prstDash val="solid"/>
          </a:ln>
        </p:spPr>
      </p:sp>
      <p:sp>
        <p:nvSpPr>
          <p:cNvPr id="9" name="upcoming-number-0">
            <a:extLst>
              <a:ext uri="{FF2B5EF4-FFF2-40B4-BE49-F238E27FC236}">
                <a16:creationId xmlns="" xmlns:a16="http://schemas.microsoft.com/office/drawing/2014/main" id="{92C01DBE-E952-46AC-B584-6267D2531870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upcoming-label-0">
            <a:extLst>
              <a:ext uri="{FF2B5EF4-FFF2-40B4-BE49-F238E27FC236}">
                <a16:creationId xmlns="" xmlns:a16="http://schemas.microsoft.com/office/drawing/2014/main" id="{6C656ABD-6165-49A3-8674-359AB6486BA6}"/>
              </a:ext>
            </a:extLst>
          </p:cNvPr>
          <p:cNvSpPr>
            <a:spLocks noGrp="1"/>
          </p:cNvSpPr>
          <p:nvPr/>
        </p:nvSpPr>
        <p:spPr>
          <a:xfrm>
            <a:off x="1104900" y="23907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Jobs and Opportunities Portal</a:t>
            </a:r>
          </a:p>
        </p:txBody>
      </p:sp>
      <p:sp>
        <p:nvSpPr>
          <p:cNvPr id="11" name="upcoming-number-1">
            <a:extLst>
              <a:ext uri="{FF2B5EF4-FFF2-40B4-BE49-F238E27FC236}">
                <a16:creationId xmlns="" xmlns:a16="http://schemas.microsoft.com/office/drawing/2014/main" id="{78565A53-026D-4EA8-879C-CB8B83044FAD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upcoming-label-1">
            <a:extLst>
              <a:ext uri="{FF2B5EF4-FFF2-40B4-BE49-F238E27FC236}">
                <a16:creationId xmlns="" xmlns:a16="http://schemas.microsoft.com/office/drawing/2014/main" id="{926EF602-074A-43E1-9887-11C7AB1CAF6E}"/>
              </a:ext>
            </a:extLst>
          </p:cNvPr>
          <p:cNvSpPr>
            <a:spLocks noGrp="1"/>
          </p:cNvSpPr>
          <p:nvPr/>
        </p:nvSpPr>
        <p:spPr>
          <a:xfrm>
            <a:off x="1104900" y="27527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Scholarships and Education Portal</a:t>
            </a:r>
          </a:p>
        </p:txBody>
      </p:sp>
      <p:sp>
        <p:nvSpPr>
          <p:cNvPr id="13" name="upcoming-number-2">
            <a:extLst>
              <a:ext uri="{FF2B5EF4-FFF2-40B4-BE49-F238E27FC236}">
                <a16:creationId xmlns="" xmlns:a16="http://schemas.microsoft.com/office/drawing/2014/main" id="{B2BD7873-C39B-4D08-995D-AB89E2E5C52B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upcoming-label-2">
            <a:extLst>
              <a:ext uri="{FF2B5EF4-FFF2-40B4-BE49-F238E27FC236}">
                <a16:creationId xmlns="" xmlns:a16="http://schemas.microsoft.com/office/drawing/2014/main" id="{8B2589CC-B049-4A43-BF83-493AA35E2C2B}"/>
              </a:ext>
            </a:extLst>
          </p:cNvPr>
          <p:cNvSpPr>
            <a:spLocks noGrp="1"/>
          </p:cNvSpPr>
          <p:nvPr/>
        </p:nvSpPr>
        <p:spPr>
          <a:xfrm>
            <a:off x="1104900" y="31146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Events and Programs Management</a:t>
            </a:r>
          </a:p>
        </p:txBody>
      </p:sp>
      <p:sp>
        <p:nvSpPr>
          <p:cNvPr id="15" name="upcoming-number-3">
            <a:extLst>
              <a:ext uri="{FF2B5EF4-FFF2-40B4-BE49-F238E27FC236}">
                <a16:creationId xmlns="" xmlns:a16="http://schemas.microsoft.com/office/drawing/2014/main" id="{0B990BEE-2A77-45AA-AD7F-43F5B510F9CA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6" name="upcoming-label-3">
            <a:extLst>
              <a:ext uri="{FF2B5EF4-FFF2-40B4-BE49-F238E27FC236}">
                <a16:creationId xmlns="" xmlns:a16="http://schemas.microsoft.com/office/drawing/2014/main" id="{0D736238-F466-467F-8707-EF922B8F8633}"/>
              </a:ext>
            </a:extLst>
          </p:cNvPr>
          <p:cNvSpPr>
            <a:spLocks noGrp="1"/>
          </p:cNvSpPr>
          <p:nvPr/>
        </p:nvSpPr>
        <p:spPr>
          <a:xfrm>
            <a:off x="1104900" y="34766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Community Service and Charity</a:t>
            </a:r>
          </a:p>
        </p:txBody>
      </p:sp>
      <p:sp>
        <p:nvSpPr>
          <p:cNvPr id="17" name="upcoming-number-4">
            <a:extLst>
              <a:ext uri="{FF2B5EF4-FFF2-40B4-BE49-F238E27FC236}">
                <a16:creationId xmlns="" xmlns:a16="http://schemas.microsoft.com/office/drawing/2014/main" id="{61B6591F-3A33-4C56-84D4-E9EDFD756637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8" name="upcoming-label-4">
            <a:extLst>
              <a:ext uri="{FF2B5EF4-FFF2-40B4-BE49-F238E27FC236}">
                <a16:creationId xmlns="" xmlns:a16="http://schemas.microsoft.com/office/drawing/2014/main" id="{8B0FA615-7616-43BA-8265-FF47D6531F62}"/>
              </a:ext>
            </a:extLst>
          </p:cNvPr>
          <p:cNvSpPr>
            <a:spLocks noGrp="1"/>
          </p:cNvSpPr>
          <p:nvPr/>
        </p:nvSpPr>
        <p:spPr>
          <a:xfrm>
            <a:off x="1104900" y="38385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Blood Donor Management</a:t>
            </a:r>
          </a:p>
        </p:txBody>
      </p:sp>
      <p:sp>
        <p:nvSpPr>
          <p:cNvPr id="19" name="upcoming-number-5">
            <a:extLst>
              <a:ext uri="{FF2B5EF4-FFF2-40B4-BE49-F238E27FC236}">
                <a16:creationId xmlns="" xmlns:a16="http://schemas.microsoft.com/office/drawing/2014/main" id="{D2223044-ADD7-4C59-A702-3A2506E74CAB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20" name="upcoming-label-5">
            <a:extLst>
              <a:ext uri="{FF2B5EF4-FFF2-40B4-BE49-F238E27FC236}">
                <a16:creationId xmlns="" xmlns:a16="http://schemas.microsoft.com/office/drawing/2014/main" id="{99E23908-74E0-454A-9F6D-B96802F447DC}"/>
              </a:ext>
            </a:extLst>
          </p:cNvPr>
          <p:cNvSpPr>
            <a:spLocks noGrp="1"/>
          </p:cNvSpPr>
          <p:nvPr/>
        </p:nvSpPr>
        <p:spPr>
          <a:xfrm>
            <a:off x="1104900" y="42005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Media and Publications</a:t>
            </a:r>
          </a:p>
        </p:txBody>
      </p:sp>
      <p:sp>
        <p:nvSpPr>
          <p:cNvPr id="21" name="upcoming-number-6">
            <a:extLst>
              <a:ext uri="{FF2B5EF4-FFF2-40B4-BE49-F238E27FC236}">
                <a16:creationId xmlns="" xmlns:a16="http://schemas.microsoft.com/office/drawing/2014/main" id="{0E31814F-06AC-4132-9090-C4C8527AD86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22" name="upcoming-label-6">
            <a:extLst>
              <a:ext uri="{FF2B5EF4-FFF2-40B4-BE49-F238E27FC236}">
                <a16:creationId xmlns="" xmlns:a16="http://schemas.microsoft.com/office/drawing/2014/main" id="{A37F8818-07D1-4088-82E5-28B7C8ACB91A}"/>
              </a:ext>
            </a:extLst>
          </p:cNvPr>
          <p:cNvSpPr>
            <a:spLocks noGrp="1"/>
          </p:cNvSpPr>
          <p:nvPr/>
        </p:nvSpPr>
        <p:spPr>
          <a:xfrm>
            <a:off x="1104900" y="45624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Document Management</a:t>
            </a:r>
          </a:p>
        </p:txBody>
      </p:sp>
      <p:sp>
        <p:nvSpPr>
          <p:cNvPr id="23" name="upcoming-number-7">
            <a:extLst>
              <a:ext uri="{FF2B5EF4-FFF2-40B4-BE49-F238E27FC236}">
                <a16:creationId xmlns="" xmlns:a16="http://schemas.microsoft.com/office/drawing/2014/main" id="{D382663D-8EDD-4214-B799-11A58D30B939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24" name="upcoming-label-7">
            <a:extLst>
              <a:ext uri="{FF2B5EF4-FFF2-40B4-BE49-F238E27FC236}">
                <a16:creationId xmlns="" xmlns:a16="http://schemas.microsoft.com/office/drawing/2014/main" id="{736BE624-1EEB-4376-8FC0-DB1782BCF204}"/>
              </a:ext>
            </a:extLst>
          </p:cNvPr>
          <p:cNvSpPr>
            <a:spLocks noGrp="1"/>
          </p:cNvSpPr>
          <p:nvPr/>
        </p:nvSpPr>
        <p:spPr>
          <a:xfrm>
            <a:off x="1104900" y="49244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Complaint and Feedback System</a:t>
            </a:r>
          </a:p>
        </p:txBody>
      </p:sp>
      <p:sp>
        <p:nvSpPr>
          <p:cNvPr id="25" name="upcoming-number-8">
            <a:extLst>
              <a:ext uri="{FF2B5EF4-FFF2-40B4-BE49-F238E27FC236}">
                <a16:creationId xmlns="" xmlns:a16="http://schemas.microsoft.com/office/drawing/2014/main" id="{B3F3D539-12BF-4333-AD75-D0FB2BC7B55B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26" name="upcoming-label-8">
            <a:extLst>
              <a:ext uri="{FF2B5EF4-FFF2-40B4-BE49-F238E27FC236}">
                <a16:creationId xmlns="" xmlns:a16="http://schemas.microsoft.com/office/drawing/2014/main" id="{3E092F8A-C662-4AD2-AC05-6EAA675BA57D}"/>
              </a:ext>
            </a:extLst>
          </p:cNvPr>
          <p:cNvSpPr>
            <a:spLocks noGrp="1"/>
          </p:cNvSpPr>
          <p:nvPr/>
        </p:nvSpPr>
        <p:spPr>
          <a:xfrm>
            <a:off x="1104900" y="52863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Meeting Management</a:t>
            </a:r>
          </a:p>
        </p:txBody>
      </p:sp>
      <p:sp>
        <p:nvSpPr>
          <p:cNvPr id="27" name="upcoming-number-9">
            <a:extLst>
              <a:ext uri="{FF2B5EF4-FFF2-40B4-BE49-F238E27FC236}">
                <a16:creationId xmlns="" xmlns:a16="http://schemas.microsoft.com/office/drawing/2014/main" id="{F634B884-4B65-47F5-BC55-CA74B857FC18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8" name="upcoming-label-9">
            <a:extLst>
              <a:ext uri="{FF2B5EF4-FFF2-40B4-BE49-F238E27FC236}">
                <a16:creationId xmlns="" xmlns:a16="http://schemas.microsoft.com/office/drawing/2014/main" id="{9FF31312-D442-4CB4-9B1F-00CD67C6D874}"/>
              </a:ext>
            </a:extLst>
          </p:cNvPr>
          <p:cNvSpPr>
            <a:spLocks noGrp="1"/>
          </p:cNvSpPr>
          <p:nvPr/>
        </p:nvSpPr>
        <p:spPr>
          <a:xfrm>
            <a:off x="1104900" y="56483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 Communication System</a:t>
            </a:r>
          </a:p>
        </p:txBody>
      </p:sp>
      <p:sp>
        <p:nvSpPr>
          <p:cNvPr id="29" name="upcoming-column-header-1">
            <a:extLst>
              <a:ext uri="{FF2B5EF4-FFF2-40B4-BE49-F238E27FC236}">
                <a16:creationId xmlns="" xmlns:a16="http://schemas.microsoft.com/office/drawing/2014/main" id="{9287B0A6-AB8F-4A9B-B1D3-3B51EBD6DEA2}"/>
              </a:ext>
            </a:extLst>
          </p:cNvPr>
          <p:cNvSpPr>
            <a:spLocks noGrp="1"/>
          </p:cNvSpPr>
          <p:nvPr/>
        </p:nvSpPr>
        <p:spPr>
          <a:xfrm>
            <a:off x="4371975" y="20097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INCLUSION &amp; NETWORKS</a:t>
            </a:r>
          </a:p>
        </p:txBody>
      </p:sp>
      <p:sp>
        <p:nvSpPr>
          <p:cNvPr id="30" name="upcoming-column-rule-1">
            <a:extLst>
              <a:ext uri="{FF2B5EF4-FFF2-40B4-BE49-F238E27FC236}">
                <a16:creationId xmlns="" xmlns:a16="http://schemas.microsoft.com/office/drawing/2014/main" id="{E4514F2E-BA74-4171-94B9-F7D1CA7C9CD6}"/>
              </a:ext>
            </a:extLst>
          </p:cNvPr>
          <p:cNvSpPr>
            <a:spLocks noGrp="1"/>
          </p:cNvSpPr>
          <p:nvPr/>
        </p:nvSpPr>
        <p:spPr>
          <a:xfrm>
            <a:off x="4371975" y="2276475"/>
            <a:ext cx="3162300" cy="0"/>
          </a:xfrm>
          <a:prstGeom prst="line">
            <a:avLst/>
          </a:prstGeom>
          <a:noFill/>
          <a:ln w="19050">
            <a:solidFill>
              <a:srgbClr val="C6A15B"/>
            </a:solidFill>
            <a:prstDash val="solid"/>
          </a:ln>
        </p:spPr>
      </p:sp>
      <p:sp>
        <p:nvSpPr>
          <p:cNvPr id="31" name="upcoming-number-10">
            <a:extLst>
              <a:ext uri="{FF2B5EF4-FFF2-40B4-BE49-F238E27FC236}">
                <a16:creationId xmlns="" xmlns:a16="http://schemas.microsoft.com/office/drawing/2014/main" id="{86BB044E-CA8E-49D7-9EAC-778FD6FFD033}"/>
              </a:ext>
            </a:extLst>
          </p:cNvPr>
          <p:cNvSpPr>
            <a:spLocks noGrp="1"/>
          </p:cNvSpPr>
          <p:nvPr/>
        </p:nvSpPr>
        <p:spPr>
          <a:xfrm>
            <a:off x="4371975" y="24003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32" name="upcoming-label-10">
            <a:extLst>
              <a:ext uri="{FF2B5EF4-FFF2-40B4-BE49-F238E27FC236}">
                <a16:creationId xmlns="" xmlns:a16="http://schemas.microsoft.com/office/drawing/2014/main" id="{7BB00A54-35E5-4DF5-A8D4-F71853A15135}"/>
              </a:ext>
            </a:extLst>
          </p:cNvPr>
          <p:cNvSpPr>
            <a:spLocks noGrp="1"/>
          </p:cNvSpPr>
          <p:nvPr/>
        </p:nvSpPr>
        <p:spPr>
          <a:xfrm>
            <a:off x="4791075" y="23907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</a:t>
            </a:r>
            <a:r>
              <a:rPr lang="en-US" sz="1069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</a:t>
            </a:r>
            <a:r>
              <a:rPr sz="1069" b="1" i="0" dirty="0" smtClean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Services</a:t>
            </a:r>
            <a:endParaRPr sz="1069" b="1" i="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3" name="upcoming-number-11">
            <a:extLst>
              <a:ext uri="{FF2B5EF4-FFF2-40B4-BE49-F238E27FC236}">
                <a16:creationId xmlns="" xmlns:a16="http://schemas.microsoft.com/office/drawing/2014/main" id="{153478D7-55AE-4101-BA46-89B6A36D5A02}"/>
              </a:ext>
            </a:extLst>
          </p:cNvPr>
          <p:cNvSpPr>
            <a:spLocks noGrp="1"/>
          </p:cNvSpPr>
          <p:nvPr/>
        </p:nvSpPr>
        <p:spPr>
          <a:xfrm>
            <a:off x="4371975" y="27622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34" name="upcoming-label-11">
            <a:extLst>
              <a:ext uri="{FF2B5EF4-FFF2-40B4-BE49-F238E27FC236}">
                <a16:creationId xmlns="" xmlns:a16="http://schemas.microsoft.com/office/drawing/2014/main" id="{9F1825C5-8F5B-40C6-9890-D2726ACB2BF9}"/>
              </a:ext>
            </a:extLst>
          </p:cNvPr>
          <p:cNvSpPr>
            <a:spLocks noGrp="1"/>
          </p:cNvSpPr>
          <p:nvPr/>
        </p:nvSpPr>
        <p:spPr>
          <a:xfrm>
            <a:off x="4791075" y="27527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Recognition and Achievement</a:t>
            </a:r>
          </a:p>
        </p:txBody>
      </p:sp>
      <p:sp>
        <p:nvSpPr>
          <p:cNvPr id="35" name="upcoming-number-12">
            <a:extLst>
              <a:ext uri="{FF2B5EF4-FFF2-40B4-BE49-F238E27FC236}">
                <a16:creationId xmlns="" xmlns:a16="http://schemas.microsoft.com/office/drawing/2014/main" id="{7C144913-25CA-4144-B684-C2E21CF72737}"/>
              </a:ext>
            </a:extLst>
          </p:cNvPr>
          <p:cNvSpPr>
            <a:spLocks noGrp="1"/>
          </p:cNvSpPr>
          <p:nvPr/>
        </p:nvSpPr>
        <p:spPr>
          <a:xfrm>
            <a:off x="4371975" y="31242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36" name="upcoming-label-12">
            <a:extLst>
              <a:ext uri="{FF2B5EF4-FFF2-40B4-BE49-F238E27FC236}">
                <a16:creationId xmlns="" xmlns:a16="http://schemas.microsoft.com/office/drawing/2014/main" id="{8DD2721F-0425-4C80-A37E-48E1FBAF1A73}"/>
              </a:ext>
            </a:extLst>
          </p:cNvPr>
          <p:cNvSpPr>
            <a:spLocks noGrp="1"/>
          </p:cNvSpPr>
          <p:nvPr/>
        </p:nvSpPr>
        <p:spPr>
          <a:xfrm>
            <a:off x="4791075" y="31146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Donations and Financial Transparency</a:t>
            </a:r>
          </a:p>
        </p:txBody>
      </p:sp>
      <p:sp>
        <p:nvSpPr>
          <p:cNvPr id="37" name="upcoming-number-13">
            <a:extLst>
              <a:ext uri="{FF2B5EF4-FFF2-40B4-BE49-F238E27FC236}">
                <a16:creationId xmlns="" xmlns:a16="http://schemas.microsoft.com/office/drawing/2014/main" id="{CB628540-79BA-45D2-A4E6-A72C4C9FBE59}"/>
              </a:ext>
            </a:extLst>
          </p:cNvPr>
          <p:cNvSpPr>
            <a:spLocks noGrp="1"/>
          </p:cNvSpPr>
          <p:nvPr/>
        </p:nvSpPr>
        <p:spPr>
          <a:xfrm>
            <a:off x="4371975" y="34861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38" name="upcoming-label-13">
            <a:extLst>
              <a:ext uri="{FF2B5EF4-FFF2-40B4-BE49-F238E27FC236}">
                <a16:creationId xmlns="" xmlns:a16="http://schemas.microsoft.com/office/drawing/2014/main" id="{068F67E7-6663-4A14-8FBD-00E955F3C9BD}"/>
              </a:ext>
            </a:extLst>
          </p:cNvPr>
          <p:cNvSpPr>
            <a:spLocks noGrp="1"/>
          </p:cNvSpPr>
          <p:nvPr/>
        </p:nvSpPr>
        <p:spPr>
          <a:xfrm>
            <a:off x="4791075" y="34766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Women Wing Portal</a:t>
            </a:r>
          </a:p>
        </p:txBody>
      </p:sp>
      <p:sp>
        <p:nvSpPr>
          <p:cNvPr id="39" name="upcoming-number-14">
            <a:extLst>
              <a:ext uri="{FF2B5EF4-FFF2-40B4-BE49-F238E27FC236}">
                <a16:creationId xmlns="" xmlns:a16="http://schemas.microsoft.com/office/drawing/2014/main" id="{97CA2470-CE24-47B3-8021-59D4EC700ED3}"/>
              </a:ext>
            </a:extLst>
          </p:cNvPr>
          <p:cNvSpPr>
            <a:spLocks noGrp="1"/>
          </p:cNvSpPr>
          <p:nvPr/>
        </p:nvSpPr>
        <p:spPr>
          <a:xfrm>
            <a:off x="4371975" y="38481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40" name="upcoming-label-14">
            <a:extLst>
              <a:ext uri="{FF2B5EF4-FFF2-40B4-BE49-F238E27FC236}">
                <a16:creationId xmlns="" xmlns:a16="http://schemas.microsoft.com/office/drawing/2014/main" id="{4A559474-AB31-4E66-9CE4-A3E0332CDD36}"/>
              </a:ext>
            </a:extLst>
          </p:cNvPr>
          <p:cNvSpPr>
            <a:spLocks noGrp="1"/>
          </p:cNvSpPr>
          <p:nvPr/>
        </p:nvSpPr>
        <p:spPr>
          <a:xfrm>
            <a:off x="4791075" y="38385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Overseas Chapters Portal</a:t>
            </a:r>
          </a:p>
        </p:txBody>
      </p:sp>
      <p:sp>
        <p:nvSpPr>
          <p:cNvPr id="41" name="upcoming-number-15">
            <a:extLst>
              <a:ext uri="{FF2B5EF4-FFF2-40B4-BE49-F238E27FC236}">
                <a16:creationId xmlns="" xmlns:a16="http://schemas.microsoft.com/office/drawing/2014/main" id="{26471EE4-1557-4126-8041-C76CEE1FB407}"/>
              </a:ext>
            </a:extLst>
          </p:cNvPr>
          <p:cNvSpPr>
            <a:spLocks noGrp="1"/>
          </p:cNvSpPr>
          <p:nvPr/>
        </p:nvSpPr>
        <p:spPr>
          <a:xfrm>
            <a:off x="4371975" y="42100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42" name="upcoming-label-15">
            <a:extLst>
              <a:ext uri="{FF2B5EF4-FFF2-40B4-BE49-F238E27FC236}">
                <a16:creationId xmlns="" xmlns:a16="http://schemas.microsoft.com/office/drawing/2014/main" id="{6798809F-16A3-4AF8-B416-862BC84CFF6A}"/>
              </a:ext>
            </a:extLst>
          </p:cNvPr>
          <p:cNvSpPr>
            <a:spLocks noGrp="1"/>
          </p:cNvSpPr>
          <p:nvPr/>
        </p:nvSpPr>
        <p:spPr>
          <a:xfrm>
            <a:off x="4791075" y="42005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Regional and UC-Level Portals</a:t>
            </a:r>
          </a:p>
        </p:txBody>
      </p:sp>
      <p:sp>
        <p:nvSpPr>
          <p:cNvPr id="43" name="upcoming-number-16">
            <a:extLst>
              <a:ext uri="{FF2B5EF4-FFF2-40B4-BE49-F238E27FC236}">
                <a16:creationId xmlns="" xmlns:a16="http://schemas.microsoft.com/office/drawing/2014/main" id="{F7A9DC69-2D67-4A41-9E11-4C8A91F6FE7A}"/>
              </a:ext>
            </a:extLst>
          </p:cNvPr>
          <p:cNvSpPr>
            <a:spLocks noGrp="1"/>
          </p:cNvSpPr>
          <p:nvPr/>
        </p:nvSpPr>
        <p:spPr>
          <a:xfrm>
            <a:off x="4371975" y="45720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44" name="upcoming-label-16">
            <a:extLst>
              <a:ext uri="{FF2B5EF4-FFF2-40B4-BE49-F238E27FC236}">
                <a16:creationId xmlns="" xmlns:a16="http://schemas.microsoft.com/office/drawing/2014/main" id="{6FA2D3E3-3C5B-46AB-AC2E-F4F01D0CE045}"/>
              </a:ext>
            </a:extLst>
          </p:cNvPr>
          <p:cNvSpPr>
            <a:spLocks noGrp="1"/>
          </p:cNvSpPr>
          <p:nvPr/>
        </p:nvSpPr>
        <p:spPr>
          <a:xfrm>
            <a:off x="4791075" y="45624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Volunteer Management System</a:t>
            </a:r>
          </a:p>
        </p:txBody>
      </p:sp>
      <p:sp>
        <p:nvSpPr>
          <p:cNvPr id="45" name="upcoming-number-17">
            <a:extLst>
              <a:ext uri="{FF2B5EF4-FFF2-40B4-BE49-F238E27FC236}">
                <a16:creationId xmlns="" xmlns:a16="http://schemas.microsoft.com/office/drawing/2014/main" id="{1EFDEB45-1840-4FFF-ABDE-063F5772F869}"/>
              </a:ext>
            </a:extLst>
          </p:cNvPr>
          <p:cNvSpPr>
            <a:spLocks noGrp="1"/>
          </p:cNvSpPr>
          <p:nvPr/>
        </p:nvSpPr>
        <p:spPr>
          <a:xfrm>
            <a:off x="4371975" y="4933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46" name="upcoming-label-17">
            <a:extLst>
              <a:ext uri="{FF2B5EF4-FFF2-40B4-BE49-F238E27FC236}">
                <a16:creationId xmlns="" xmlns:a16="http://schemas.microsoft.com/office/drawing/2014/main" id="{85601760-D7FD-4BFA-A0E3-5E051E5AF52C}"/>
              </a:ext>
            </a:extLst>
          </p:cNvPr>
          <p:cNvSpPr>
            <a:spLocks noGrp="1"/>
          </p:cNvSpPr>
          <p:nvPr/>
        </p:nvSpPr>
        <p:spPr>
          <a:xfrm>
            <a:off x="4791075" y="49244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Mentorship and Guidance System</a:t>
            </a:r>
          </a:p>
        </p:txBody>
      </p:sp>
      <p:sp>
        <p:nvSpPr>
          <p:cNvPr id="47" name="upcoming-number-18">
            <a:extLst>
              <a:ext uri="{FF2B5EF4-FFF2-40B4-BE49-F238E27FC236}">
                <a16:creationId xmlns="" xmlns:a16="http://schemas.microsoft.com/office/drawing/2014/main" id="{14D77A77-EB5D-4FF8-81A6-BD566ADDA6D7}"/>
              </a:ext>
            </a:extLst>
          </p:cNvPr>
          <p:cNvSpPr>
            <a:spLocks noGrp="1"/>
          </p:cNvSpPr>
          <p:nvPr/>
        </p:nvSpPr>
        <p:spPr>
          <a:xfrm>
            <a:off x="4371975" y="52959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48" name="upcoming-label-18">
            <a:extLst>
              <a:ext uri="{FF2B5EF4-FFF2-40B4-BE49-F238E27FC236}">
                <a16:creationId xmlns="" xmlns:a16="http://schemas.microsoft.com/office/drawing/2014/main" id="{92D06BE9-C607-4CE8-9C87-08A960EE4110}"/>
              </a:ext>
            </a:extLst>
          </p:cNvPr>
          <p:cNvSpPr>
            <a:spLocks noGrp="1"/>
          </p:cNvSpPr>
          <p:nvPr/>
        </p:nvSpPr>
        <p:spPr>
          <a:xfrm>
            <a:off x="4791075" y="52863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Mobile Application</a:t>
            </a:r>
          </a:p>
        </p:txBody>
      </p:sp>
      <p:sp>
        <p:nvSpPr>
          <p:cNvPr id="49" name="upcoming-number-19">
            <a:extLst>
              <a:ext uri="{FF2B5EF4-FFF2-40B4-BE49-F238E27FC236}">
                <a16:creationId xmlns="" xmlns:a16="http://schemas.microsoft.com/office/drawing/2014/main" id="{3720A1A2-0A2A-4AC4-AFA7-D7809E3BD369}"/>
              </a:ext>
            </a:extLst>
          </p:cNvPr>
          <p:cNvSpPr>
            <a:spLocks noGrp="1"/>
          </p:cNvSpPr>
          <p:nvPr/>
        </p:nvSpPr>
        <p:spPr>
          <a:xfrm>
            <a:off x="4371975" y="56578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50" name="upcoming-label-19">
            <a:extLst>
              <a:ext uri="{FF2B5EF4-FFF2-40B4-BE49-F238E27FC236}">
                <a16:creationId xmlns="" xmlns:a16="http://schemas.microsoft.com/office/drawing/2014/main" id="{CC71DD6C-1744-4D74-9720-E1B1F4AB117D}"/>
              </a:ext>
            </a:extLst>
          </p:cNvPr>
          <p:cNvSpPr>
            <a:spLocks noGrp="1"/>
          </p:cNvSpPr>
          <p:nvPr/>
        </p:nvSpPr>
        <p:spPr>
          <a:xfrm>
            <a:off x="4791075" y="56483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Online Learning Platform</a:t>
            </a:r>
          </a:p>
        </p:txBody>
      </p:sp>
      <p:sp>
        <p:nvSpPr>
          <p:cNvPr id="51" name="upcoming-column-header-2">
            <a:extLst>
              <a:ext uri="{FF2B5EF4-FFF2-40B4-BE49-F238E27FC236}">
                <a16:creationId xmlns="" xmlns:a16="http://schemas.microsoft.com/office/drawing/2014/main" id="{BDE61713-9382-424B-B307-2E0DB03E33E4}"/>
              </a:ext>
            </a:extLst>
          </p:cNvPr>
          <p:cNvSpPr>
            <a:spLocks noGrp="1"/>
          </p:cNvSpPr>
          <p:nvPr/>
        </p:nvSpPr>
        <p:spPr>
          <a:xfrm>
            <a:off x="8058150" y="20097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TALENT &amp; FUTURE READINESS</a:t>
            </a:r>
          </a:p>
        </p:txBody>
      </p:sp>
      <p:sp>
        <p:nvSpPr>
          <p:cNvPr id="52" name="upcoming-column-rule-2">
            <a:extLst>
              <a:ext uri="{FF2B5EF4-FFF2-40B4-BE49-F238E27FC236}">
                <a16:creationId xmlns="" xmlns:a16="http://schemas.microsoft.com/office/drawing/2014/main" id="{6ACA242B-B8B5-46B2-85FD-FDADB896CD28}"/>
              </a:ext>
            </a:extLst>
          </p:cNvPr>
          <p:cNvSpPr>
            <a:spLocks noGrp="1"/>
          </p:cNvSpPr>
          <p:nvPr/>
        </p:nvSpPr>
        <p:spPr>
          <a:xfrm>
            <a:off x="8058150" y="2276475"/>
            <a:ext cx="3162300" cy="0"/>
          </a:xfrm>
          <a:prstGeom prst="line">
            <a:avLst/>
          </a:prstGeom>
          <a:noFill/>
          <a:ln w="19050">
            <a:solidFill>
              <a:srgbClr val="C6A15B"/>
            </a:solidFill>
            <a:prstDash val="solid"/>
          </a:ln>
        </p:spPr>
      </p:sp>
      <p:sp>
        <p:nvSpPr>
          <p:cNvPr id="53" name="upcoming-number-20">
            <a:extLst>
              <a:ext uri="{FF2B5EF4-FFF2-40B4-BE49-F238E27FC236}">
                <a16:creationId xmlns="" xmlns:a16="http://schemas.microsoft.com/office/drawing/2014/main" id="{3AE9E676-886C-4D73-A2D7-C580BFD044CB}"/>
              </a:ext>
            </a:extLst>
          </p:cNvPr>
          <p:cNvSpPr>
            <a:spLocks noGrp="1"/>
          </p:cNvSpPr>
          <p:nvPr/>
        </p:nvSpPr>
        <p:spPr>
          <a:xfrm>
            <a:off x="8058150" y="24003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54" name="upcoming-label-20">
            <a:extLst>
              <a:ext uri="{FF2B5EF4-FFF2-40B4-BE49-F238E27FC236}">
                <a16:creationId xmlns="" xmlns:a16="http://schemas.microsoft.com/office/drawing/2014/main" id="{258B58FF-5AA5-42B1-B294-F3DCA40B9B85}"/>
              </a:ext>
            </a:extLst>
          </p:cNvPr>
          <p:cNvSpPr>
            <a:spLocks noGrp="1"/>
          </p:cNvSpPr>
          <p:nvPr/>
        </p:nvSpPr>
        <p:spPr>
          <a:xfrm>
            <a:off x="8477250" y="23907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Digital Library</a:t>
            </a:r>
          </a:p>
        </p:txBody>
      </p:sp>
      <p:sp>
        <p:nvSpPr>
          <p:cNvPr id="55" name="upcoming-number-21">
            <a:extLst>
              <a:ext uri="{FF2B5EF4-FFF2-40B4-BE49-F238E27FC236}">
                <a16:creationId xmlns="" xmlns:a16="http://schemas.microsoft.com/office/drawing/2014/main" id="{EFBC10FE-3D04-4707-A0D7-DA112DE013DC}"/>
              </a:ext>
            </a:extLst>
          </p:cNvPr>
          <p:cNvSpPr>
            <a:spLocks noGrp="1"/>
          </p:cNvSpPr>
          <p:nvPr/>
        </p:nvSpPr>
        <p:spPr>
          <a:xfrm>
            <a:off x="8058150" y="27622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56" name="upcoming-label-21">
            <a:extLst>
              <a:ext uri="{FF2B5EF4-FFF2-40B4-BE49-F238E27FC236}">
                <a16:creationId xmlns="" xmlns:a16="http://schemas.microsoft.com/office/drawing/2014/main" id="{00864909-2A1F-4E9D-8A69-5D792A3F9D29}"/>
              </a:ext>
            </a:extLst>
          </p:cNvPr>
          <p:cNvSpPr>
            <a:spLocks noGrp="1"/>
          </p:cNvSpPr>
          <p:nvPr/>
        </p:nvSpPr>
        <p:spPr>
          <a:xfrm>
            <a:off x="8477250" y="27527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Youth Skills Marketplace</a:t>
            </a:r>
          </a:p>
        </p:txBody>
      </p:sp>
      <p:sp>
        <p:nvSpPr>
          <p:cNvPr id="57" name="upcoming-number-22">
            <a:extLst>
              <a:ext uri="{FF2B5EF4-FFF2-40B4-BE49-F238E27FC236}">
                <a16:creationId xmlns="" xmlns:a16="http://schemas.microsoft.com/office/drawing/2014/main" id="{DDD5E88D-0318-4785-B571-6E2842273C34}"/>
              </a:ext>
            </a:extLst>
          </p:cNvPr>
          <p:cNvSpPr>
            <a:spLocks noGrp="1"/>
          </p:cNvSpPr>
          <p:nvPr/>
        </p:nvSpPr>
        <p:spPr>
          <a:xfrm>
            <a:off x="8058150" y="31242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  <p:sp>
        <p:nvSpPr>
          <p:cNvPr id="58" name="upcoming-label-22">
            <a:extLst>
              <a:ext uri="{FF2B5EF4-FFF2-40B4-BE49-F238E27FC236}">
                <a16:creationId xmlns="" xmlns:a16="http://schemas.microsoft.com/office/drawing/2014/main" id="{8087CEE3-0DDA-46D0-B36C-EDD8F056972E}"/>
              </a:ext>
            </a:extLst>
          </p:cNvPr>
          <p:cNvSpPr>
            <a:spLocks noGrp="1"/>
          </p:cNvSpPr>
          <p:nvPr/>
        </p:nvSpPr>
        <p:spPr>
          <a:xfrm>
            <a:off x="8477250" y="31146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Business and Entrepreneur Directory</a:t>
            </a:r>
          </a:p>
        </p:txBody>
      </p:sp>
      <p:sp>
        <p:nvSpPr>
          <p:cNvPr id="59" name="upcoming-number-23">
            <a:extLst>
              <a:ext uri="{FF2B5EF4-FFF2-40B4-BE49-F238E27FC236}">
                <a16:creationId xmlns="" xmlns:a16="http://schemas.microsoft.com/office/drawing/2014/main" id="{4E7DD4AB-99B2-4BFE-A9D4-2E784FE3F69D}"/>
              </a:ext>
            </a:extLst>
          </p:cNvPr>
          <p:cNvSpPr>
            <a:spLocks noGrp="1"/>
          </p:cNvSpPr>
          <p:nvPr/>
        </p:nvSpPr>
        <p:spPr>
          <a:xfrm>
            <a:off x="8058150" y="34861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60" name="upcoming-label-23">
            <a:extLst>
              <a:ext uri="{FF2B5EF4-FFF2-40B4-BE49-F238E27FC236}">
                <a16:creationId xmlns="" xmlns:a16="http://schemas.microsoft.com/office/drawing/2014/main" id="{0E6F7239-DE88-483E-B651-4BC879AD9FAE}"/>
              </a:ext>
            </a:extLst>
          </p:cNvPr>
          <p:cNvSpPr>
            <a:spLocks noGrp="1"/>
          </p:cNvSpPr>
          <p:nvPr/>
        </p:nvSpPr>
        <p:spPr>
          <a:xfrm>
            <a:off x="8477250" y="34766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Student Talent Database</a:t>
            </a:r>
          </a:p>
        </p:txBody>
      </p:sp>
      <p:sp>
        <p:nvSpPr>
          <p:cNvPr id="61" name="upcoming-number-24">
            <a:extLst>
              <a:ext uri="{FF2B5EF4-FFF2-40B4-BE49-F238E27FC236}">
                <a16:creationId xmlns="" xmlns:a16="http://schemas.microsoft.com/office/drawing/2014/main" id="{FD720373-BE9F-4224-B969-ADA4C7162F4E}"/>
              </a:ext>
            </a:extLst>
          </p:cNvPr>
          <p:cNvSpPr>
            <a:spLocks noGrp="1"/>
          </p:cNvSpPr>
          <p:nvPr/>
        </p:nvSpPr>
        <p:spPr>
          <a:xfrm>
            <a:off x="8058150" y="38481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62" name="upcoming-label-24">
            <a:extLst>
              <a:ext uri="{FF2B5EF4-FFF2-40B4-BE49-F238E27FC236}">
                <a16:creationId xmlns="" xmlns:a16="http://schemas.microsoft.com/office/drawing/2014/main" id="{91F42838-4210-4CF1-B977-A5238BDBEFDA}"/>
              </a:ext>
            </a:extLst>
          </p:cNvPr>
          <p:cNvSpPr>
            <a:spLocks noGrp="1"/>
          </p:cNvSpPr>
          <p:nvPr/>
        </p:nvSpPr>
        <p:spPr>
          <a:xfrm>
            <a:off x="8477250" y="38385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Alumni Network</a:t>
            </a:r>
          </a:p>
        </p:txBody>
      </p:sp>
      <p:sp>
        <p:nvSpPr>
          <p:cNvPr id="63" name="upcoming-number-25">
            <a:extLst>
              <a:ext uri="{FF2B5EF4-FFF2-40B4-BE49-F238E27FC236}">
                <a16:creationId xmlns="" xmlns:a16="http://schemas.microsoft.com/office/drawing/2014/main" id="{2EC8C039-CD4E-4917-B58D-8A4BB9FF30B8}"/>
              </a:ext>
            </a:extLst>
          </p:cNvPr>
          <p:cNvSpPr>
            <a:spLocks noGrp="1"/>
          </p:cNvSpPr>
          <p:nvPr/>
        </p:nvSpPr>
        <p:spPr>
          <a:xfrm>
            <a:off x="8058150" y="42100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64" name="upcoming-label-25">
            <a:extLst>
              <a:ext uri="{FF2B5EF4-FFF2-40B4-BE49-F238E27FC236}">
                <a16:creationId xmlns="" xmlns:a16="http://schemas.microsoft.com/office/drawing/2014/main" id="{794B313C-5E28-4FDB-A808-D929BAB23692}"/>
              </a:ext>
            </a:extLst>
          </p:cNvPr>
          <p:cNvSpPr>
            <a:spLocks noGrp="1"/>
          </p:cNvSpPr>
          <p:nvPr/>
        </p:nvSpPr>
        <p:spPr>
          <a:xfrm>
            <a:off x="8477250" y="42005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Internship Matching System</a:t>
            </a:r>
          </a:p>
        </p:txBody>
      </p:sp>
      <p:sp>
        <p:nvSpPr>
          <p:cNvPr id="65" name="upcoming-number-26">
            <a:extLst>
              <a:ext uri="{FF2B5EF4-FFF2-40B4-BE49-F238E27FC236}">
                <a16:creationId xmlns="" xmlns:a16="http://schemas.microsoft.com/office/drawing/2014/main" id="{3B437EE3-49C6-46DA-A21B-4267A349A423}"/>
              </a:ext>
            </a:extLst>
          </p:cNvPr>
          <p:cNvSpPr>
            <a:spLocks noGrp="1"/>
          </p:cNvSpPr>
          <p:nvPr/>
        </p:nvSpPr>
        <p:spPr>
          <a:xfrm>
            <a:off x="8058150" y="45720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27</a:t>
            </a:r>
          </a:p>
        </p:txBody>
      </p:sp>
      <p:sp>
        <p:nvSpPr>
          <p:cNvPr id="66" name="upcoming-label-26">
            <a:extLst>
              <a:ext uri="{FF2B5EF4-FFF2-40B4-BE49-F238E27FC236}">
                <a16:creationId xmlns="" xmlns:a16="http://schemas.microsoft.com/office/drawing/2014/main" id="{F95056E2-E23E-4486-8DAF-7C45AFE241FB}"/>
              </a:ext>
            </a:extLst>
          </p:cNvPr>
          <p:cNvSpPr>
            <a:spLocks noGrp="1"/>
          </p:cNvSpPr>
          <p:nvPr/>
        </p:nvSpPr>
        <p:spPr>
          <a:xfrm>
            <a:off x="8477250" y="45624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Mobile Voting Application</a:t>
            </a:r>
          </a:p>
        </p:txBody>
      </p:sp>
      <p:sp>
        <p:nvSpPr>
          <p:cNvPr id="67" name="upcoming-number-27">
            <a:extLst>
              <a:ext uri="{FF2B5EF4-FFF2-40B4-BE49-F238E27FC236}">
                <a16:creationId xmlns="" xmlns:a16="http://schemas.microsoft.com/office/drawing/2014/main" id="{AF4EEA53-9FA4-4AE2-A022-647BBC927080}"/>
              </a:ext>
            </a:extLst>
          </p:cNvPr>
          <p:cNvSpPr>
            <a:spLocks noGrp="1"/>
          </p:cNvSpPr>
          <p:nvPr/>
        </p:nvSpPr>
        <p:spPr>
          <a:xfrm>
            <a:off x="8058150" y="4933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28</a:t>
            </a:r>
          </a:p>
        </p:txBody>
      </p:sp>
      <p:sp>
        <p:nvSpPr>
          <p:cNvPr id="68" name="upcoming-label-27">
            <a:extLst>
              <a:ext uri="{FF2B5EF4-FFF2-40B4-BE49-F238E27FC236}">
                <a16:creationId xmlns="" xmlns:a16="http://schemas.microsoft.com/office/drawing/2014/main" id="{11EB7717-C687-4CB4-B30B-6EC69109C400}"/>
              </a:ext>
            </a:extLst>
          </p:cNvPr>
          <p:cNvSpPr>
            <a:spLocks noGrp="1"/>
          </p:cNvSpPr>
          <p:nvPr/>
        </p:nvSpPr>
        <p:spPr>
          <a:xfrm>
            <a:off x="8477250" y="49244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Roundu Emergency Response Network</a:t>
            </a:r>
          </a:p>
        </p:txBody>
      </p:sp>
      <p:sp>
        <p:nvSpPr>
          <p:cNvPr id="69" name="upcoming-number-28">
            <a:extLst>
              <a:ext uri="{FF2B5EF4-FFF2-40B4-BE49-F238E27FC236}">
                <a16:creationId xmlns="" xmlns:a16="http://schemas.microsoft.com/office/drawing/2014/main" id="{54880A38-780C-4FB2-A900-56AB809D66D2}"/>
              </a:ext>
            </a:extLst>
          </p:cNvPr>
          <p:cNvSpPr>
            <a:spLocks noGrp="1"/>
          </p:cNvSpPr>
          <p:nvPr/>
        </p:nvSpPr>
        <p:spPr>
          <a:xfrm>
            <a:off x="8058150" y="529590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29</a:t>
            </a:r>
          </a:p>
        </p:txBody>
      </p:sp>
      <p:sp>
        <p:nvSpPr>
          <p:cNvPr id="70" name="upcoming-label-28">
            <a:extLst>
              <a:ext uri="{FF2B5EF4-FFF2-40B4-BE49-F238E27FC236}">
                <a16:creationId xmlns="" xmlns:a16="http://schemas.microsoft.com/office/drawing/2014/main" id="{A237ABEA-C8E6-4A26-AF47-1CACC2EB1535}"/>
              </a:ext>
            </a:extLst>
          </p:cNvPr>
          <p:cNvSpPr>
            <a:spLocks noGrp="1"/>
          </p:cNvSpPr>
          <p:nvPr/>
        </p:nvSpPr>
        <p:spPr>
          <a:xfrm>
            <a:off x="8477250" y="528637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 Contribution Points and Badges</a:t>
            </a:r>
          </a:p>
        </p:txBody>
      </p:sp>
      <p:sp>
        <p:nvSpPr>
          <p:cNvPr id="71" name="upcoming-number-29">
            <a:extLst>
              <a:ext uri="{FF2B5EF4-FFF2-40B4-BE49-F238E27FC236}">
                <a16:creationId xmlns="" xmlns:a16="http://schemas.microsoft.com/office/drawing/2014/main" id="{CEA40916-9D7E-4DA8-9A87-D5639D51139B}"/>
              </a:ext>
            </a:extLst>
          </p:cNvPr>
          <p:cNvSpPr>
            <a:spLocks noGrp="1"/>
          </p:cNvSpPr>
          <p:nvPr/>
        </p:nvSpPr>
        <p:spPr>
          <a:xfrm>
            <a:off x="8058150" y="56578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72" name="upcoming-label-29">
            <a:extLst>
              <a:ext uri="{FF2B5EF4-FFF2-40B4-BE49-F238E27FC236}">
                <a16:creationId xmlns="" xmlns:a16="http://schemas.microsoft.com/office/drawing/2014/main" id="{F91A5849-4419-4428-BC8C-1C97A2608D16}"/>
              </a:ext>
            </a:extLst>
          </p:cNvPr>
          <p:cNvSpPr>
            <a:spLocks noGrp="1"/>
          </p:cNvSpPr>
          <p:nvPr/>
        </p:nvSpPr>
        <p:spPr>
          <a:xfrm>
            <a:off x="8477250" y="5648325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Research and Policy Centre</a:t>
            </a:r>
          </a:p>
        </p:txBody>
      </p:sp>
      <p:sp>
        <p:nvSpPr>
          <p:cNvPr id="73" name="footer-rule-10">
            <a:extLst>
              <a:ext uri="{FF2B5EF4-FFF2-40B4-BE49-F238E27FC236}">
                <a16:creationId xmlns="" xmlns:a16="http://schemas.microsoft.com/office/drawing/2014/main" id="{C2248FF7-FA3A-4BEC-BDB8-EB28A67A5E4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2D6552"/>
            </a:solidFill>
            <a:prstDash val="solid"/>
          </a:ln>
        </p:spPr>
      </p:sp>
      <p:sp>
        <p:nvSpPr>
          <p:cNvPr id="74" name="footer-label-10">
            <a:extLst>
              <a:ext uri="{FF2B5EF4-FFF2-40B4-BE49-F238E27FC236}">
                <a16:creationId xmlns="" xmlns:a16="http://schemas.microsoft.com/office/drawing/2014/main" id="{AE6FB786-D4CE-46E5-8783-615F5A10840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75" name="footer-page-10">
            <a:extLst>
              <a:ext uri="{FF2B5EF4-FFF2-40B4-BE49-F238E27FC236}">
                <a16:creationId xmlns="" xmlns:a16="http://schemas.microsoft.com/office/drawing/2014/main" id="{C70EC942-EF9C-4AD4-B880-AB909E79929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685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9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8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6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7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3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9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1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7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83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99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15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31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47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63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6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79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6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95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11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27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6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43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6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59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6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75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6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391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6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07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6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423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6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439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6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455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6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4710"/>
                            </p:stCondLst>
                            <p:childTnLst>
                              <p:par>
                                <p:cTn id="194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6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4870"/>
                            </p:stCondLst>
                            <p:childTnLst>
                              <p:par>
                                <p:cTn id="201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6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3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19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350"/>
                            </p:stCondLst>
                            <p:childTnLst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510"/>
                            </p:stCondLst>
                            <p:childTnLst>
                              <p:par>
                                <p:cTn id="229" presetID="1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losing-side-panel">
            <a:extLst>
              <a:ext uri="{FF2B5EF4-FFF2-40B4-BE49-F238E27FC236}">
                <a16:creationId xmlns="" xmlns:a16="http://schemas.microsoft.com/office/drawing/2014/main" id="{CD49CD50-AE07-4607-95E6-E174CEE2EC20}"/>
              </a:ext>
            </a:extLst>
          </p:cNvPr>
          <p:cNvSpPr>
            <a:spLocks noGrp="1"/>
          </p:cNvSpPr>
          <p:nvPr/>
        </p:nvSpPr>
        <p:spPr>
          <a:xfrm>
            <a:off x="8896350" y="0"/>
            <a:ext cx="3295650" cy="6858000"/>
          </a:xfrm>
          <a:prstGeom prst="rect">
            <a:avLst/>
          </a:prstGeom>
          <a:solidFill>
            <a:srgbClr val="0D3B2E"/>
          </a:solidFill>
          <a:ln w="0">
            <a:noFill/>
            <a:prstDash val="solid"/>
          </a:ln>
        </p:spPr>
      </p:sp>
      <p:sp>
        <p:nvSpPr>
          <p:cNvPr id="2" name="closing-logo-halo">
            <a:extLst>
              <a:ext uri="{FF2B5EF4-FFF2-40B4-BE49-F238E27FC236}">
                <a16:creationId xmlns="" xmlns:a16="http://schemas.microsoft.com/office/drawing/2014/main" id="{37FBAE61-8FDD-41BE-A89A-40503A736CE3}"/>
              </a:ext>
            </a:extLst>
          </p:cNvPr>
          <p:cNvSpPr>
            <a:spLocks noGrp="1"/>
          </p:cNvSpPr>
          <p:nvPr/>
        </p:nvSpPr>
        <p:spPr>
          <a:xfrm>
            <a:off x="9077325" y="914400"/>
            <a:ext cx="2933700" cy="2933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A15B"/>
            </a:solidFill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0" y="981075"/>
            <a:ext cx="2800350" cy="2800350"/>
          </a:xfrm>
          <a:prstGeom prst="rect">
            <a:avLst/>
          </a:prstGeom>
        </p:spPr>
      </p:pic>
      <p:sp>
        <p:nvSpPr>
          <p:cNvPr id="4" name="closing-rule-top">
            <a:extLst>
              <a:ext uri="{FF2B5EF4-FFF2-40B4-BE49-F238E27FC236}">
                <a16:creationId xmlns="" xmlns:a16="http://schemas.microsoft.com/office/drawing/2014/main" id="{FDFCEB5E-5766-4168-A83D-46E9A704810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81050" cy="47625"/>
          </a:xfrm>
          <a:prstGeom prst="rect">
            <a:avLst/>
          </a:prstGeom>
          <a:solidFill>
            <a:srgbClr val="C6A15B"/>
          </a:solidFill>
          <a:ln w="0">
            <a:noFill/>
            <a:prstDash val="solid"/>
          </a:ln>
        </p:spPr>
      </p:sp>
      <p:sp>
        <p:nvSpPr>
          <p:cNvPr id="5" name="closing-eyebrow">
            <a:extLst>
              <a:ext uri="{FF2B5EF4-FFF2-40B4-BE49-F238E27FC236}">
                <a16:creationId xmlns="" xmlns:a16="http://schemas.microsoft.com/office/drawing/2014/main" id="{DDDC4616-F0DC-4C32-B518-EA3727C33862}"/>
              </a:ext>
            </a:extLst>
          </p:cNvPr>
          <p:cNvSpPr>
            <a:spLocks noGrp="1"/>
          </p:cNvSpPr>
          <p:nvPr/>
        </p:nvSpPr>
        <p:spPr>
          <a:xfrm>
            <a:off x="685800" y="9620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6" name="closing-main">
            <a:extLst>
              <a:ext uri="{FF2B5EF4-FFF2-40B4-BE49-F238E27FC236}">
                <a16:creationId xmlns="" xmlns:a16="http://schemas.microsoft.com/office/drawing/2014/main" id="{498FE23B-A896-4ABF-89AC-20F99CD0CF54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23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7" name="closing-qa">
            <a:extLst>
              <a:ext uri="{FF2B5EF4-FFF2-40B4-BE49-F238E27FC236}">
                <a16:creationId xmlns="" xmlns:a16="http://schemas.microsoft.com/office/drawing/2014/main" id="{740B866A-829E-4F6B-824C-068BBCAD23E1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Questions &amp; Answers</a:t>
            </a:r>
          </a:p>
        </p:txBody>
      </p:sp>
      <p:sp>
        <p:nvSpPr>
          <p:cNvPr id="8" name="closing-purpose">
            <a:extLst>
              <a:ext uri="{FF2B5EF4-FFF2-40B4-BE49-F238E27FC236}">
                <a16:creationId xmlns="" xmlns:a16="http://schemas.microsoft.com/office/drawing/2014/main" id="{35B508A8-8CBC-491E-8F47-782DA2441142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714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Together, we are building the digital future of TNR.</a:t>
            </a:r>
          </a:p>
        </p:txBody>
      </p:sp>
      <p:sp>
        <p:nvSpPr>
          <p:cNvPr id="9" name="closing-rule-mid">
            <a:extLst>
              <a:ext uri="{FF2B5EF4-FFF2-40B4-BE49-F238E27FC236}">
                <a16:creationId xmlns="" xmlns:a16="http://schemas.microsoft.com/office/drawing/2014/main" id="{8FD8C9CE-A8E4-4493-AABF-30C34C72EC38}"/>
              </a:ext>
            </a:extLst>
          </p:cNvPr>
          <p:cNvSpPr>
            <a:spLocks noGrp="1"/>
          </p:cNvSpPr>
          <p:nvPr/>
        </p:nvSpPr>
        <p:spPr>
          <a:xfrm>
            <a:off x="685800" y="3914775"/>
            <a:ext cx="1714500" cy="0"/>
          </a:xfrm>
          <a:prstGeom prst="line">
            <a:avLst/>
          </a:prstGeom>
          <a:noFill/>
          <a:ln w="38100">
            <a:solidFill>
              <a:srgbClr val="C6A15B"/>
            </a:solidFill>
            <a:prstDash val="solid"/>
          </a:ln>
        </p:spPr>
      </p:sp>
      <p:sp>
        <p:nvSpPr>
          <p:cNvPr id="10" name="closing-quote">
            <a:extLst>
              <a:ext uri="{FF2B5EF4-FFF2-40B4-BE49-F238E27FC236}">
                <a16:creationId xmlns="" xmlns:a16="http://schemas.microsoft.com/office/drawing/2014/main" id="{EF9F435B-1EA2-4BB3-AAD6-88AF6605C94E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666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2025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Technology becomes meaningful</a:t>
            </a:r>
          </a:p>
          <a:p>
            <a:pPr algn="l">
              <a:lnSpc>
                <a:spcPct val="110000"/>
              </a:lnSpc>
              <a:buNone/>
              <a:defRPr sz="2025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when it serves the community.</a:t>
            </a:r>
          </a:p>
        </p:txBody>
      </p:sp>
      <p:sp>
        <p:nvSpPr>
          <p:cNvPr id="11" name="closing-presenter">
            <a:extLst>
              <a:ext uri="{FF2B5EF4-FFF2-40B4-BE49-F238E27FC236}">
                <a16:creationId xmlns="" xmlns:a16="http://schemas.microsoft.com/office/drawing/2014/main" id="{E3B67545-20AB-45FF-936F-57EBB83BD061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SHABBIR HUSSAIN  •  TECHNICAL COORDINATOR – TNR</a:t>
            </a:r>
          </a:p>
        </p:txBody>
      </p:sp>
      <p:sp>
        <p:nvSpPr>
          <p:cNvPr id="12" name="closing-logo-rule">
            <a:extLst>
              <a:ext uri="{FF2B5EF4-FFF2-40B4-BE49-F238E27FC236}">
                <a16:creationId xmlns="" xmlns:a16="http://schemas.microsoft.com/office/drawing/2014/main" id="{A6BA6F84-9704-49F5-9BE1-B07A84DB8785}"/>
              </a:ext>
            </a:extLst>
          </p:cNvPr>
          <p:cNvSpPr>
            <a:spLocks noGrp="1"/>
          </p:cNvSpPr>
          <p:nvPr/>
        </p:nvSpPr>
        <p:spPr>
          <a:xfrm>
            <a:off x="9553575" y="4248150"/>
            <a:ext cx="1981200" cy="0"/>
          </a:xfrm>
          <a:prstGeom prst="line">
            <a:avLst/>
          </a:prstGeom>
          <a:noFill/>
          <a:ln w="28575">
            <a:solidFill>
              <a:srgbClr val="C6A15B"/>
            </a:solidFill>
            <a:prstDash val="solid"/>
          </a:ln>
        </p:spPr>
      </p:sp>
      <p:sp>
        <p:nvSpPr>
          <p:cNvPr id="13" name="closing-platform">
            <a:extLst>
              <a:ext uri="{FF2B5EF4-FFF2-40B4-BE49-F238E27FC236}">
                <a16:creationId xmlns="" xmlns:a16="http://schemas.microsoft.com/office/drawing/2014/main" id="{059117B6-8ABC-4978-8569-CC4A4CAF9246}"/>
              </a:ext>
            </a:extLst>
          </p:cNvPr>
          <p:cNvSpPr>
            <a:spLocks noGrp="1"/>
          </p:cNvSpPr>
          <p:nvPr/>
        </p:nvSpPr>
        <p:spPr>
          <a:xfrm>
            <a:off x="9124950" y="4476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4" name="closing-connected">
            <a:extLst>
              <a:ext uri="{FF2B5EF4-FFF2-40B4-BE49-F238E27FC236}">
                <a16:creationId xmlns="" xmlns:a16="http://schemas.microsoft.com/office/drawing/2014/main" id="{480E48D4-9BAA-41B0-9A4C-3BA22EEB43D1}"/>
              </a:ext>
            </a:extLst>
          </p:cNvPr>
          <p:cNvSpPr>
            <a:spLocks noGrp="1"/>
          </p:cNvSpPr>
          <p:nvPr/>
        </p:nvSpPr>
        <p:spPr>
          <a:xfrm>
            <a:off x="9124950" y="48291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56329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3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2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1" grpId="0"/>
      <p:bldP spid="13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1776</Words>
  <Application>Microsoft Office PowerPoint</Application>
  <DocSecurity>0</DocSecurity>
  <PresentationFormat>Widescreen</PresentationFormat>
  <Paragraphs>357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ARIFA OVERSEAS 4</cp:lastModifiedBy>
  <cp:revision>9</cp:revision>
  <dcterms:created xsi:type="dcterms:W3CDTF">2026-08-04T19:11:10Z</dcterms:created>
  <dcterms:modified xsi:type="dcterms:W3CDTF">2026-08-05T19:07:47Z</dcterms:modified>
</cp:coreProperties>
</file>